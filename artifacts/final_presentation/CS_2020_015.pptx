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30 seconds.</a:t>
            </a:r>
          </a:p>
          <a:p/>
          <a:p>
            <a:r>
              <a:t>Good morning. I am Bope Ranasinghage Gihan Lakmal, CS/2020/015. My project is Intelligent Drug Sales Forecasting and Healthcare Insights with Artificial Intelligence, supervised by Professor N. G. J. Dias. I developed a category-wise forecasting application for pharmaceutical demand planning. I will explain the data, implemented methods, recorded results and practical application, followed by the main limitations.</a:t>
            </a:r>
          </a:p>
          <a:p/>
          <a:p>
            <a:r>
              <a:t>EVIDENCE: Final_1 thesis, cover and Chapters 3–6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20 seconds.</a:t>
            </a:r>
          </a:p>
          <a:p/>
          <a:p>
            <a:r>
              <a:t>The presentation follows five stages: the problem and objectives; the dataset and methods; the application architecture; the experimental findings; and the demonstration, limitations and conclusion. The planned speaking time is under twenty minutes, including the embedded walkthrough. Detailed results and implementation notes are available in hidden backup slides for the panel discussion.</a:t>
            </a:r>
          </a:p>
          <a:p/>
          <a:p>
            <a:r>
              <a:t>EVIDENCE: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a:t>
            </a:r>
          </a:p>
          <a:p/>
          <a:p>
            <a:r>
              <a:t>The project addresses pharmaceutical sales forecasting as a stock-planning problem. Too little stock can leave demand unmet; too much stock ties up working capital and can lead to expiry. Different drug categories have different demand levels and patterns, so a single forecasting method may not work equally well for every category. The research question is how to compare multiple forecasting approaches and make their outputs accessible through a usable application. The implemented forecasts use category sales history. Regional deployment is the intended application context; the bundled dataset does not contain separate region identifiers.</a:t>
            </a:r>
          </a:p>
          <a:p/>
          <a:p>
            <a:r>
              <a:t>EVIDENCE: Thesis §§1.2–1.6; data/raw/C1.csv–C8.csv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a:t>
            </a:r>
          </a:p>
          <a:p/>
          <a:p>
            <a:r>
              <a:t>The main aim was to implement an AI-based drug sales forecasting system. I organised weekly sales into eight categories, implemented several model families, compared the seven models for which saved metrics are available, and exposed the forecasting and explanation functions through a web application. The research also contains experimental advanced-AI components. I distinguish those extensions from the core models with recorded comparative results. The practical contribution is the integrated forecasting workflow and category-level analysis, rather than a claim that a new forecasting algorithm has been invented.</a:t>
            </a:r>
          </a:p>
          <a:p/>
          <a:p>
            <a:r>
              <a:t>EVIDENCE: Thesis §1.4; model_metrics.json; services/ and src/models/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The directly related 2025 paper by Ekanayake and colleagues, including myself, used SARIMA with a Flask application for categorical drug sales. That provides the earlier project context. Ke and colleagues introduced LightGBM as an efficient gradient-boosted tree method, supporting its inclusion in the comparison. Hewamalage, Bergmeir and Bandara reviewed recurrent networks for time-series forecasting, motivating the LSTM and GRU comparisons. The present project extends the earlier category-wise application through additional model families, explanation support and modular services. I am not claiming that forecasting dashboards or model comparison are absent from all prior research.</a:t>
            </a:r>
          </a:p>
          <a:p/>
          <a:p>
            <a:r>
              <a:t>EVIDENCE: Ekanayake et al. (2025), local paper; Ke et al. (2017) [2]; Hewamalage et al. (2021)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65 seconds.</a:t>
            </a:r>
          </a:p>
          <a:p/>
          <a:p>
            <a:r>
              <a:t>The dataset consists of eight category CSV files, each with 517 weekly observations, covering 12 January 2014 to 3 December 2023. The final data was described as an approximately equal mixture of real sales from two pharmacies in Kurunegala and synthetic data, which I confirmed when preparing these slides. The CSV files do not label individual rows by source, so exact real-versus-synthetic row counts cannot be independently separated. Across the eight files there are 4,136 category-week values, not 4,136 independent dates. The files have no missing cells or duplicate dates and all adjacent dates are seven days apart. There is no pharmacy or region column, so the measured results concern categories rather than regional generalisation.</a:t>
            </a:r>
          </a:p>
          <a:p/>
          <a:p>
            <a:r>
              <a:t>EVIDENCE: data/raw/C1.csv–C8.csv; thesis §3.2; student confirmation, 13 Sep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70 seconds.</a:t>
            </a:r>
          </a:p>
          <a:p/>
          <a:p>
            <a:r>
              <a:t>Each CSV is parsed as an ordered time series. The input representation then depends on the model. XGBoost and LightGBM use five previous sales observations as lag features. LSTM, GRU and the standard Transformer use ten-observation sequences in their default paths. Statistical models use the dated series directly. LightGBM and the main sequence models apply MinMax scaling, and predictions are transformed back to the original sales scale. Model files and scalers are stored for reuse where supported. One current exception is LightGBM: its forecasting function retrains a small local model because saved native artifacts are not portable across all local builds. This slide shows the implemented preparation process; it does not assert that the archived benchmark used a verified common held-out split.</a:t>
            </a:r>
          </a:p>
          <a:p/>
          <a:p>
            <a:r>
              <a:t>EVIDENCE: src/utils/preprocessing.py; src/models/{lightgbm,lstm,gru,transformer}_model.py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SARIMAX and Prophet provide statistical comparisons. The evaluator configures SARIMAX with order one-zero-zero and seasonal order one-zero-zero-seven. Because the input rows are weekly, that seasonal period is seven observations, not seven days. Prophet receives a date column named ds and target named y. The two machine-learning approaches are XGBoost and LightGBM, both using lagged sales values. XGBoost is a boosted-tree regressor. The current LightGBM function uses MinMax-normalised lags, 31 leaves, learning rate 0.05 and 100 boosting rounds. These are implementation defaults; I do not claim the separate optimisation JSON was used to produce every saved metric.</a:t>
            </a:r>
          </a:p>
          <a:p/>
          <a:p>
            <a:r>
              <a:t>EVIDENCE: src/evaluation/model_evaluation.py; src/models/{sarimax,prophet,xgboost,lightgbm}_model.py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60 seconds.</a:t>
            </a:r>
          </a:p>
          <a:p/>
          <a:p>
            <a:r>
              <a:t>The standard LSTM and GRU implementations use two recurrent layers with 64 hidden units and dropout of 0.1. A linear output layer predicts the next sales value from the last hidden output. Their default input window contains ten weekly observations. The standard Transformer uses a model dimension of 64, four attention heads and two encoder layers, followed by a scalar prediction head. Predictions can be fed back recursively to obtain additional steps. The repository also contains TFT, N-BEATS and Informer implementations. However, those three do not have results in the saved seven-model comparison. N-BEATS is a separate forecasting architecture and should not be classified as a Transformer model.</a:t>
            </a:r>
          </a:p>
          <a:p/>
          <a:p>
            <a:r>
              <a:t>EVIDENCE: src/models/{lstm,gru,transformer,tft,nbeats,informer}_model.py; model_metrics.json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50 seconds.</a:t>
            </a:r>
          </a:p>
          <a:p/>
          <a:p>
            <a:r>
              <a:t>Stacking has now been implemented and evaluated using XGBoost, LSTM and GRU as base models, combined by StandardScaler and Ridge regression. Three expanding chronological blocks provide thirty out-of-fold prediction rows to train the combiner. For each category, the first 507 weeks are available for training, and the last ten weeks, from 1 October to 3 December 2023, are reserved for testing. Stacking achieved average MAE 30.2059 and RMSE 36.0614. It improved over the last-value naive baseline, but equal averaging and the individual bases were better on mean absolute error in this experiment. These are new results from a different protocol and must not be directly ranked against the thesis's original seven-model table.</a:t>
            </a:r>
          </a:p>
          <a:p/>
          <a:p>
            <a:r>
              <a:t>EVIDENCE: src/evaluation_results/stacking_results.json; src/models/stacking_model.py; new run, 13 Sep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a:t>
            </a:r>
          </a:p>
          <a:p/>
          <a:p>
            <a:r>
              <a:t>The current web application is served by FastAPI with Jinja templates and browser-side JavaScript. The frontend sends requests through the gateway. The repository separates forecasting, training, explanation and advanced-AI code into services. In the current gateway implementation, the forecast endpoint directly calls the shared forecasting function, so the diagram represents component responsibilities and not a claim that every request makes a network hop to a separate process. Saved models, scalers and CSV data support these components. Docker Compose and Kubernetes configuration are included, but this presentation does not claim a measured production deployment or a completed load test.</a:t>
            </a:r>
          </a:p>
          <a:p/>
          <a:p>
            <a:r>
              <a:t>EVIDENCE: services/; apps/api_gateway/main.py; infra/docker/; infra/kubernetes/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65 seconds.</a:t>
            </a:r>
          </a:p>
          <a:p/>
          <a:p>
            <a:r>
              <a:t>The presentation contains two separate experiments. The original saved benchmark compares seven models across eight categories and has a target-alignment and full-series fitting limitation. Its results remain labelled as archived. The new stacking experiment trains its base models and scalers only on earlier records, uses three chronological validation blocks to train Ridge, and reserves the final ten weeks as an untouched test. Stacking, equal averaging, the three bases and a naive baseline are compared on exactly the same test dates in this new run. Both sets use mean category MAE and RMSE, but their different training and evaluation procedures prevent direct cross-table ranking. MAPE is undefined if a held-out actual is zero.</a:t>
            </a:r>
          </a:p>
          <a:p/>
          <a:p>
            <a:r>
              <a:t>EVIDENCE: src/evaluation/model_evaluation.py; model_metrics.json; performance_summary.json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65 seconds.</a:t>
            </a:r>
          </a:p>
          <a:p/>
          <a:p>
            <a:r>
              <a:t>This chart orders the seven models by average MAE. LightGBM has the lowest recorded MAE of 23.3728 and RMSE of 28.9163, followed by LSTM and GRU on both absolute-error metrics. XGBoost has an average MAE of 25.4679. SARIMAX and Prophet have larger absolute errors in these saved results. The choice of metric matters: Transformer has the lowest average MAPE at 53.6691 percent, even though it is not best on MAE or RMSE. Because category scales differ and the evaluation has the limitation described on the previous slide, these figures are descriptive comparisons of the archived experiment, not a guarantee of future performance.</a:t>
            </a:r>
          </a:p>
          <a:p/>
          <a:p>
            <a:r>
              <a:t>EVIDENCE: performance_summary.json; values checked against category means in model_metrics.json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a:t>
            </a:r>
          </a:p>
          <a:p/>
          <a:p>
            <a:r>
              <a:t>The category-level comparison shows why the application supports model choice. GRU has the lowest recorded MAE for C1. Prophet is lowest for C2 and C3, LightGBM for C4, LSTM for C5, C6 and C8, and XGBoost for C7. That means LSTM leads in three categories while LightGBM leads on average. C4 has a much larger error scale than C6, so an average absolute error can be influenced by higher-volume categories. Selecting a model from the same results used to judge it is descriptive; a production selection rule would require separate validation and later testing. These category winners do not establish the best model for an unobserved pharmacy or region.</a:t>
            </a:r>
          </a:p>
          <a:p/>
          <a:p>
            <a:r>
              <a:t>EVIDENCE: src/evaluation_results/model_metrics.json; minimum MAE within each category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a:t>
            </a:r>
          </a:p>
          <a:p/>
          <a:p>
            <a:r>
              <a:t>The explanation service attempts SHAP-based interpretation and also provides a fallback. This saved example is explicitly labelled fallback_lag_importance. Its top feature is sales_lag_4 with a normalised importance of approximately 0.2664. The fallback uses model feature importance where available, otherwise normalised absolute correlations with the target. It therefore gives a relative ranking of lag features. It does not establish that a particular lag caused demand, and it is not equivalent to a signed local SHAP explanation of an individual prediction. The application should report which method was returned so users can interpret the chart correctly.</a:t>
            </a:r>
          </a:p>
          <a:p/>
          <a:p>
            <a:r>
              <a:t>EVIDENCE: Saved fallback_importance_C1_xgboost_20260712_042311.png; shap_explainer.py §§411–458; thesis §4.4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55 seconds.</a:t>
            </a:r>
          </a:p>
          <a:p/>
          <a:p>
            <a:r>
              <a:t>Beyond the core forecast comparison, the repository contains advanced research modules. A saved C1 neural architecture search evaluated eight architectures. Its losses are on a scaled series and cannot be directly compared with the sales-scale MAE table. A recorded federated test used two simulated clients and one FedAvg round; this is not a field trial across independent pharmacies. Meta-learning and adaptation workflows are implemented, but the recorded status says the MAML model was not trained at that point. The causal-analysis output includes correlations with time features; this does not establish causal effects. These components demonstrate implemented research workflows, without a verified comparative accuracy gain for the main forecast benchmark.</a:t>
            </a:r>
          </a:p>
          <a:p/>
          <a:p>
            <a:r>
              <a:t>EVIDENCE: nas_results_C1_1783854913.json; fed_results_C1_iid_1783854914.json; causal_discovery_C1.json; thesis §§4.5,4.8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85 seconds.</a:t>
            </a:r>
          </a:p>
          <a:p/>
          <a:p>
            <a:r>
              <a:t>I will now play a 45-second silent walkthrough assembled from the project interface and saved outputs. First, the interface allows the user to choose a category, date and forecasting method. Second, the recorded historical example requests C1 on 15 January 2018 and returns the nearest stored weekly observation, 14 January 2018, with sales of 28.33. This is a historical lookup, not a prediction of an unseen value. Third, the explanation example shows the saved fallback importance chart. The film uses archived screens and does not show a fresh live backend run. The following hidden backup slide includes the same screens if video playback is unavailable. Click the video to start; it has no audio.</a:t>
            </a:r>
          </a:p>
          <a:p/>
          <a:p>
            <a:r>
              <a:t>EVIDENCE: Project UI screenshot; C1 historical output chart; saved C1 fallback explanation; 45-second silent MP4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40 seconds.</a:t>
            </a:r>
          </a:p>
          <a:p/>
          <a:p>
            <a:r>
              <a:t>The updated implementation passed sixteen Python tests, covering the existing service smoke checks and new stacking checks, plus one JavaScript UI test. Tests verify that future holdout values do not enter model fitting, each horizon is combined separately, weekly date conversion is correct, and missing or stale artifacts fail explicitly. All eight full-history model bundles were also loaded and generated finite ten-week forecasts. A real gateway request for C1 on 11 December 2023 returned approximately 53.0036 for the corresponding weekly endpoint, 17 December. The stacking interface now uses actual historical values and recorded held-out scores, rather than the old placeholder metrics and charts. This integration check is separate from the unseen-future evaluation.</a:t>
            </a:r>
          </a:p>
          <a:p/>
          <a:p>
            <a:r>
              <a:t>EVIDENCE: tests/test_stacking.py; tests/test_services_smoke.py; tests/test_stacking_ui.cjs; stacking_integration_checks.json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65 seconds.</a:t>
            </a:r>
          </a:p>
          <a:p/>
          <a:p>
            <a:r>
              <a:t>There are four main limitations. First, the dataset contains synthetic augmentation and has neither source labels nor region identifiers, so future work needs traceable real data from more pharmacies. Second, the original archived evaluator still needs a consistent chronological design. The new stacking experiment now uses an untouched ten-week test and chronological meta-training, but that fix does not retroactively validate the older results. Third, stacking now converts dates to weekly horizons and limits predictions to its trained ten-step horizon. Older model routes still need the same date alignment correction. Fourth, low-volume series make percentage errors unstable. The full C6 series contains 46 zeros, although this does not mean all are in the evaluation window. Future evaluation should add suitable low-volume metrics and simple naive baselines. Real inventory impact has not yet been measured.</a:t>
            </a:r>
          </a:p>
          <a:p/>
          <a:p>
            <a:r>
              <a:t>EVIDENCE: CSV audit; src/evaluation/model_evaluation.py; forecast_service/app/forecasting.py; thesis §§5.6,6.7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45 seconds.</a:t>
            </a:r>
          </a:p>
          <a:p/>
          <a:p>
            <a:r>
              <a:t>The project delivered a category-wise forecasting platform with a web interface, model comparison, stored artifacts and explanation support. In the saved seven-model comparison, LightGBM has the lowest average MAE and RMSE. Category-wise results show that the lowest-error model changes across categories. Explainability is useful when its returned method and limits are explicit. The new stacking experiment now has a consistent future holdout: its mean MAE is 30.2059, compared with 24.2382 for equal averaging. The next priority is broader real-data evaluation, followed by testing the system in pharmacy operations. The system provides a foundation for demand planning, while actual reductions in shortages or wastage remain future outcomes to measure.</a:t>
            </a:r>
          </a:p>
          <a:p/>
          <a:p>
            <a:r>
              <a:t>EVIDENCE: Thesis Chapters 4–6; saved evaluation artifacts and implementation audit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10 seconds.</a:t>
            </a:r>
          </a:p>
          <a:p/>
          <a:p>
            <a:r>
              <a:t>These are the key sources cited in the talk. Reference one is the directly related categorical drug-sales paper stored with the project. References two and three support the selected machine-learning and recurrent modelling methods. The exact project figures come from the thesis, source code and saved JSON files identified in the notes and accompanying evidence report.</a:t>
            </a:r>
          </a:p>
          <a:p/>
          <a:p>
            <a:r>
              <a:t>EVIDENCE: Local project paper; NeurIPS proceedings; International Journal of Forecasting; final thesis and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10 seconds.</a:t>
            </a:r>
          </a:p>
          <a:p/>
          <a:p>
            <a:r>
              <a:t>Thank you to Professor N. G. J. Dias for his guidance, to the Faculty of Computing and Technology, and to the people who supported the project. Thank you for listening. I welcome the panel's questions. Hidden backup slides contain exact metrics, model settings, category mapping, evaluation details and the offline demonstration screens.</a:t>
            </a:r>
          </a:p>
          <a:p/>
          <a:p>
            <a:r>
              <a:t>EVIDENCE: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 skip during the timed talk.</a:t>
            </a:r>
          </a:p>
          <a:p/>
          <a:p>
            <a:r>
              <a:t>Use this table for numerical questions. The errors and timings are arithmetic averages across eight categories. Timing is taken from the archived evaluator; it includes path-specific loading and computation and is not a controlled current-production latency benchmark. The source data is preserved at four decimals. Different metrics give different rankings.</a:t>
            </a:r>
          </a:p>
          <a:p/>
          <a:p>
            <a:r>
              <a:t>EVIDENCE: src/evaluation_results/performance_summary.json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 skip during the timed talk.</a:t>
            </a:r>
          </a:p>
          <a:p/>
          <a:p>
            <a:r>
              <a:t>These settings were read from current source files. They are not asserted to be the exact configurations behind all archived metrics. XGBoost and LightGBM use five lags; the standard LSTM, GRU and Transformer use ten-step windows. The category-to-code mapping is checked by comparing all values in each C1–C8 file with the corresponding column in the combined CSV. The codes identify drug categories; they are not regional labels.</a:t>
            </a:r>
          </a:p>
          <a:p/>
          <a:p>
            <a:r>
              <a:t>EVIDENCE: src/models/; data/raw/pharama weekly sales copy.csv and C1.csv–C8.csv</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 skip during the timed talk.</a:t>
            </a:r>
          </a:p>
          <a:p/>
          <a:p>
            <a:r>
              <a:t>The thesis describes chronological train–test separation. The available evaluator sets actual_values to the last ten observations, fits SARIMAX on the complete series and requests predictions over its final ten indices. Several other functions instead read the full CSV and predict beyond its end. That compares different effective horizons and does not prove an unseen-future holdout. Correct evaluation should choose a cutoff, fit preprocessing and each model using only earlier observations, generate the same ten future weekly timestamps, and score against aligned actuals. Repeat across origins if data allows. The presentation does not invent a split percentage or claim a rerun.</a:t>
            </a:r>
          </a:p>
          <a:p/>
          <a:p>
            <a:r>
              <a:t>EVIDENCE: src/evaluation/model_evaluation.py lines 42–80; model-specific forecast functions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 skip during the timed talk.</a:t>
            </a:r>
          </a:p>
          <a:p/>
          <a:p>
            <a:r>
              <a:t>These are descriptive plots of the bundled CSV values, not predictions. Each panel uses its own sales axis. The full dataset has 46 zero values in C6; this should not be confused with the number of zeros in any evaluation window. Source mix is student-confirmed at approximately 50:50. Exact row provenance remains unavailable.</a:t>
            </a:r>
          </a:p>
          <a:p/>
          <a:p>
            <a:r>
              <a:t>EVIDENCE: data/raw/C1.csv, C4.csv, C6.csv</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BACKUP — skip during the timed talk.</a:t>
            </a:r>
          </a:p>
          <a:p/>
          <a:p>
            <a:r>
              <a:t>Use these static images if the embedded MP4 cannot play. The interface is a saved project screen. The chart shows the historical C1 lookup: requested date 2018-01-15, nearest observation 2018-01-14, sales 28.33. This is not a future forecast or an accuracy test. The saved importance chart is available on the main explainability slide.</a:t>
            </a:r>
          </a:p>
          <a:p/>
          <a:p>
            <a:r>
              <a:t>EVIDENCE: Project UI screenshot and C1_2018_01_15_xgboost_forecast.png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proceedings.neurips.cc/paper/2017/hash/6449f44a102fde848669bdd9eb6b76fa-Abstract.html" TargetMode="External"/><Relationship Id="rId4" Type="http://schemas.openxmlformats.org/officeDocument/2006/relationships/hyperlink" Target="https://doi.org/10.1016/j.ijforecast.2020.06.00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CSCI 43018 • RESEARCH PROJECT</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Intelligent Drug Sales Forecasting</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01</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Final_1 thesis, cover and Chapters 3–6</a:t>
            </a:r>
          </a:p>
        </p:txBody>
      </p:sp>
      <p:sp>
        <p:nvSpPr>
          <p:cNvPr id="10" name="TextBox 9"/>
          <p:cNvSpPr txBox="1"/>
          <p:nvPr/>
        </p:nvSpPr>
        <p:spPr>
          <a:xfrm>
            <a:off x="548640" y="1554480"/>
            <a:ext cx="10789920" cy="1280160"/>
          </a:xfrm>
          <a:prstGeom prst="rect">
            <a:avLst/>
          </a:prstGeom>
          <a:noFill/>
        </p:spPr>
        <p:txBody>
          <a:bodyPr wrap="square" lIns="0" rIns="0" tIns="0" bIns="0">
            <a:spAutoFit/>
          </a:bodyPr>
          <a:lstStyle/>
          <a:p>
            <a:pPr>
              <a:spcAft>
                <a:spcPts val="700"/>
              </a:spcAft>
              <a:defRPr sz="3400" b="1">
                <a:solidFill>
                  <a:srgbClr val="102F4A"/>
                </a:solidFill>
                <a:latin typeface="Aptos"/>
              </a:defRPr>
            </a:pPr>
            <a:r>
              <a:t>and Healthcare Insights</a:t>
            </a:r>
          </a:p>
          <a:p>
            <a:pPr>
              <a:spcAft>
                <a:spcPts val="700"/>
              </a:spcAft>
              <a:defRPr sz="3400" b="1">
                <a:solidFill>
                  <a:srgbClr val="102F4A"/>
                </a:solidFill>
                <a:latin typeface="Aptos"/>
              </a:defRPr>
            </a:pPr>
            <a:r>
              <a:t>with Artificial Intelligence</a:t>
            </a:r>
          </a:p>
        </p:txBody>
      </p:sp>
      <p:sp>
        <p:nvSpPr>
          <p:cNvPr id="11" name="Rounded Rectangle 10"/>
          <p:cNvSpPr/>
          <p:nvPr/>
        </p:nvSpPr>
        <p:spPr>
          <a:xfrm>
            <a:off x="548640" y="3035808"/>
            <a:ext cx="7315200" cy="57607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182112"/>
            <a:ext cx="6949440" cy="274320"/>
          </a:xfrm>
          <a:prstGeom prst="rect">
            <a:avLst/>
          </a:prstGeom>
          <a:noFill/>
        </p:spPr>
        <p:txBody>
          <a:bodyPr wrap="square" lIns="0" rIns="0" tIns="0" bIns="0">
            <a:spAutoFit/>
          </a:bodyPr>
          <a:lstStyle/>
          <a:p>
            <a:pPr>
              <a:spcAft>
                <a:spcPts val="700"/>
              </a:spcAft>
              <a:defRPr sz="1800" b="1">
                <a:solidFill>
                  <a:srgbClr val="1678AD"/>
                </a:solidFill>
                <a:latin typeface="Aptos"/>
              </a:defRPr>
            </a:pPr>
            <a:r>
              <a:t>Category-wise pharmaceutical demand planning in Sri Lanka</a:t>
            </a:r>
          </a:p>
        </p:txBody>
      </p:sp>
      <p:sp>
        <p:nvSpPr>
          <p:cNvPr id="13" name="TextBox 12"/>
          <p:cNvSpPr txBox="1"/>
          <p:nvPr/>
        </p:nvSpPr>
        <p:spPr>
          <a:xfrm>
            <a:off x="548640" y="4160520"/>
            <a:ext cx="6400800" cy="411480"/>
          </a:xfrm>
          <a:prstGeom prst="rect">
            <a:avLst/>
          </a:prstGeom>
          <a:noFill/>
        </p:spPr>
        <p:txBody>
          <a:bodyPr wrap="square" lIns="0" rIns="0" tIns="0" bIns="0">
            <a:spAutoFit/>
          </a:bodyPr>
          <a:lstStyle/>
          <a:p>
            <a:pPr>
              <a:spcAft>
                <a:spcPts val="700"/>
              </a:spcAft>
              <a:defRPr sz="2400" b="1">
                <a:solidFill>
                  <a:srgbClr val="17344A"/>
                </a:solidFill>
                <a:latin typeface="Aptos"/>
              </a:defRPr>
            </a:pPr>
            <a:r>
              <a:t>Bope Ranasinghage Gihan Lakmal</a:t>
            </a:r>
          </a:p>
        </p:txBody>
      </p:sp>
      <p:sp>
        <p:nvSpPr>
          <p:cNvPr id="14" name="TextBox 13"/>
          <p:cNvSpPr txBox="1"/>
          <p:nvPr/>
        </p:nvSpPr>
        <p:spPr>
          <a:xfrm>
            <a:off x="548640" y="4663440"/>
            <a:ext cx="4572000" cy="365760"/>
          </a:xfrm>
          <a:prstGeom prst="rect">
            <a:avLst/>
          </a:prstGeom>
          <a:noFill/>
        </p:spPr>
        <p:txBody>
          <a:bodyPr wrap="square" lIns="0" rIns="0" tIns="0" bIns="0">
            <a:spAutoFit/>
          </a:bodyPr>
          <a:lstStyle/>
          <a:p>
            <a:pPr>
              <a:spcAft>
                <a:spcPts val="700"/>
              </a:spcAft>
              <a:defRPr sz="2200" b="1">
                <a:solidFill>
                  <a:srgbClr val="1678AD"/>
                </a:solidFill>
                <a:latin typeface="Aptos"/>
              </a:defRPr>
            </a:pPr>
            <a:r>
              <a:t>CS/2020/015</a:t>
            </a:r>
          </a:p>
        </p:txBody>
      </p:sp>
      <p:sp>
        <p:nvSpPr>
          <p:cNvPr id="15" name="TextBox 14"/>
          <p:cNvSpPr txBox="1"/>
          <p:nvPr/>
        </p:nvSpPr>
        <p:spPr>
          <a:xfrm>
            <a:off x="8229600" y="4114800"/>
            <a:ext cx="3291840" cy="274320"/>
          </a:xfrm>
          <a:prstGeom prst="rect">
            <a:avLst/>
          </a:prstGeom>
          <a:noFill/>
        </p:spPr>
        <p:txBody>
          <a:bodyPr wrap="square" lIns="0" rIns="0" tIns="0" bIns="0">
            <a:spAutoFit/>
          </a:bodyPr>
          <a:lstStyle/>
          <a:p>
            <a:pPr>
              <a:spcAft>
                <a:spcPts val="700"/>
              </a:spcAft>
              <a:defRPr sz="1300" b="1">
                <a:solidFill>
                  <a:srgbClr val="526879"/>
                </a:solidFill>
                <a:latin typeface="Aptos"/>
              </a:defRPr>
            </a:pPr>
            <a:r>
              <a:t>SUPERVISOR</a:t>
            </a:r>
          </a:p>
        </p:txBody>
      </p:sp>
      <p:sp>
        <p:nvSpPr>
          <p:cNvPr id="16" name="TextBox 15"/>
          <p:cNvSpPr txBox="1"/>
          <p:nvPr/>
        </p:nvSpPr>
        <p:spPr>
          <a:xfrm>
            <a:off x="8229600" y="4535424"/>
            <a:ext cx="3383280" cy="731520"/>
          </a:xfrm>
          <a:prstGeom prst="rect">
            <a:avLst/>
          </a:prstGeom>
          <a:noFill/>
        </p:spPr>
        <p:txBody>
          <a:bodyPr wrap="square" lIns="0" rIns="0" tIns="0" bIns="0">
            <a:spAutoFit/>
          </a:bodyPr>
          <a:lstStyle/>
          <a:p>
            <a:pPr>
              <a:spcAft>
                <a:spcPts val="700"/>
              </a:spcAft>
              <a:defRPr sz="2400" b="1">
                <a:solidFill>
                  <a:srgbClr val="17344A"/>
                </a:solidFill>
                <a:latin typeface="Aptos"/>
              </a:defRPr>
            </a:pPr>
            <a:r>
              <a:t>Prof. N. G. J. Dias</a:t>
            </a:r>
          </a:p>
        </p:txBody>
      </p:sp>
      <p:sp>
        <p:nvSpPr>
          <p:cNvPr id="17" name="TextBox 16"/>
          <p:cNvSpPr txBox="1"/>
          <p:nvPr/>
        </p:nvSpPr>
        <p:spPr>
          <a:xfrm>
            <a:off x="548640" y="5431536"/>
            <a:ext cx="10698480" cy="594360"/>
          </a:xfrm>
          <a:prstGeom prst="rect">
            <a:avLst/>
          </a:prstGeom>
          <a:noFill/>
        </p:spPr>
        <p:txBody>
          <a:bodyPr wrap="square" lIns="0" rIns="0" tIns="0" bIns="0">
            <a:spAutoFit/>
          </a:bodyPr>
          <a:lstStyle/>
          <a:p>
            <a:pPr>
              <a:spcAft>
                <a:spcPts val="700"/>
              </a:spcAft>
              <a:defRPr sz="1800" b="0">
                <a:solidFill>
                  <a:srgbClr val="526879"/>
                </a:solidFill>
                <a:latin typeface="Aptos"/>
              </a:defRPr>
            </a:pPr>
            <a:r>
              <a:t>B.Sc. Honours in Computer Science</a:t>
            </a:r>
          </a:p>
          <a:p>
            <a:pPr>
              <a:spcAft>
                <a:spcPts val="700"/>
              </a:spcAft>
              <a:defRPr sz="1800" b="0">
                <a:solidFill>
                  <a:srgbClr val="526879"/>
                </a:solidFill>
                <a:latin typeface="Aptos"/>
              </a:defRPr>
            </a:pPr>
            <a:r>
              <a:t>Faculty of Computing and Technology • University of Kelaniya</a:t>
            </a:r>
          </a:p>
        </p:txBody>
      </p:sp>
    </p:spTree>
  </p:cSld>
  <p:clrMapOvr>
    <a:masterClrMapping/>
  </p:clrMapOvr>
  <p:transition advClick="1"/>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OVERVIEW</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From the research problem to the application</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02</a:t>
            </a:r>
          </a:p>
        </p:txBody>
      </p:sp>
      <p:sp>
        <p:nvSpPr>
          <p:cNvPr id="9" name="Rounded Rectangle 8"/>
          <p:cNvSpPr/>
          <p:nvPr/>
        </p:nvSpPr>
        <p:spPr>
          <a:xfrm>
            <a:off x="548640" y="1691640"/>
            <a:ext cx="594360" cy="530352"/>
          </a:xfrm>
          <a:prstGeom prst="roundRect">
            <a:avLst>
              <a:gd name="adj" fmla="val 12000"/>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01368"/>
            <a:ext cx="502920" cy="274320"/>
          </a:xfrm>
          <a:prstGeom prst="rect">
            <a:avLst/>
          </a:prstGeom>
          <a:noFill/>
        </p:spPr>
        <p:txBody>
          <a:bodyPr wrap="square" lIns="0" rIns="0" tIns="0" bIns="0">
            <a:spAutoFit/>
          </a:bodyPr>
          <a:lstStyle/>
          <a:p>
            <a:pPr algn="ctr">
              <a:spcAft>
                <a:spcPts val="700"/>
              </a:spcAft>
              <a:defRPr sz="1900" b="1">
                <a:solidFill>
                  <a:srgbClr val="FFFFFF"/>
                </a:solidFill>
                <a:latin typeface="Aptos"/>
              </a:defRPr>
            </a:pPr>
            <a:r>
              <a:t>01</a:t>
            </a:r>
          </a:p>
        </p:txBody>
      </p:sp>
      <p:sp>
        <p:nvSpPr>
          <p:cNvPr id="11" name="TextBox 10"/>
          <p:cNvSpPr txBox="1"/>
          <p:nvPr/>
        </p:nvSpPr>
        <p:spPr>
          <a:xfrm>
            <a:off x="1417320" y="1764792"/>
            <a:ext cx="9144000"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Problem &amp; objectives</a:t>
            </a:r>
          </a:p>
        </p:txBody>
      </p:sp>
      <p:sp>
        <p:nvSpPr>
          <p:cNvPr id="12" name="Rounded Rectangle 11"/>
          <p:cNvSpPr/>
          <p:nvPr/>
        </p:nvSpPr>
        <p:spPr>
          <a:xfrm>
            <a:off x="548640" y="2478024"/>
            <a:ext cx="594360" cy="530352"/>
          </a:xfrm>
          <a:prstGeom prst="roundRect">
            <a:avLst>
              <a:gd name="adj" fmla="val 12000"/>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587752"/>
            <a:ext cx="502920" cy="274320"/>
          </a:xfrm>
          <a:prstGeom prst="rect">
            <a:avLst/>
          </a:prstGeom>
          <a:noFill/>
        </p:spPr>
        <p:txBody>
          <a:bodyPr wrap="square" lIns="0" rIns="0" tIns="0" bIns="0">
            <a:spAutoFit/>
          </a:bodyPr>
          <a:lstStyle/>
          <a:p>
            <a:pPr algn="ctr">
              <a:spcAft>
                <a:spcPts val="700"/>
              </a:spcAft>
              <a:defRPr sz="1900" b="1">
                <a:solidFill>
                  <a:srgbClr val="FFFFFF"/>
                </a:solidFill>
                <a:latin typeface="Aptos"/>
              </a:defRPr>
            </a:pPr>
            <a:r>
              <a:t>02</a:t>
            </a:r>
          </a:p>
        </p:txBody>
      </p:sp>
      <p:sp>
        <p:nvSpPr>
          <p:cNvPr id="14" name="TextBox 13"/>
          <p:cNvSpPr txBox="1"/>
          <p:nvPr/>
        </p:nvSpPr>
        <p:spPr>
          <a:xfrm>
            <a:off x="1417320" y="2551176"/>
            <a:ext cx="9144000"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Data &amp; methodology</a:t>
            </a:r>
          </a:p>
        </p:txBody>
      </p:sp>
      <p:sp>
        <p:nvSpPr>
          <p:cNvPr id="15" name="Rounded Rectangle 14"/>
          <p:cNvSpPr/>
          <p:nvPr/>
        </p:nvSpPr>
        <p:spPr>
          <a:xfrm>
            <a:off x="548640" y="3264408"/>
            <a:ext cx="594360" cy="530352"/>
          </a:xfrm>
          <a:prstGeom prst="roundRect">
            <a:avLst>
              <a:gd name="adj" fmla="val 12000"/>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374136"/>
            <a:ext cx="502920" cy="274320"/>
          </a:xfrm>
          <a:prstGeom prst="rect">
            <a:avLst/>
          </a:prstGeom>
          <a:noFill/>
        </p:spPr>
        <p:txBody>
          <a:bodyPr wrap="square" lIns="0" rIns="0" tIns="0" bIns="0">
            <a:spAutoFit/>
          </a:bodyPr>
          <a:lstStyle/>
          <a:p>
            <a:pPr algn="ctr">
              <a:spcAft>
                <a:spcPts val="700"/>
              </a:spcAft>
              <a:defRPr sz="1900" b="1">
                <a:solidFill>
                  <a:srgbClr val="FFFFFF"/>
                </a:solidFill>
                <a:latin typeface="Aptos"/>
              </a:defRPr>
            </a:pPr>
            <a:r>
              <a:t>03</a:t>
            </a:r>
          </a:p>
        </p:txBody>
      </p:sp>
      <p:sp>
        <p:nvSpPr>
          <p:cNvPr id="17" name="TextBox 16"/>
          <p:cNvSpPr txBox="1"/>
          <p:nvPr/>
        </p:nvSpPr>
        <p:spPr>
          <a:xfrm>
            <a:off x="1417320" y="3337560"/>
            <a:ext cx="9144000"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System implementation</a:t>
            </a:r>
          </a:p>
        </p:txBody>
      </p:sp>
      <p:sp>
        <p:nvSpPr>
          <p:cNvPr id="18" name="Rounded Rectangle 17"/>
          <p:cNvSpPr/>
          <p:nvPr/>
        </p:nvSpPr>
        <p:spPr>
          <a:xfrm>
            <a:off x="548640" y="4050791"/>
            <a:ext cx="594360" cy="530352"/>
          </a:xfrm>
          <a:prstGeom prst="roundRect">
            <a:avLst>
              <a:gd name="adj" fmla="val 12000"/>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160520"/>
            <a:ext cx="502920" cy="274320"/>
          </a:xfrm>
          <a:prstGeom prst="rect">
            <a:avLst/>
          </a:prstGeom>
          <a:noFill/>
        </p:spPr>
        <p:txBody>
          <a:bodyPr wrap="square" lIns="0" rIns="0" tIns="0" bIns="0">
            <a:spAutoFit/>
          </a:bodyPr>
          <a:lstStyle/>
          <a:p>
            <a:pPr algn="ctr">
              <a:spcAft>
                <a:spcPts val="700"/>
              </a:spcAft>
              <a:defRPr sz="1900" b="1">
                <a:solidFill>
                  <a:srgbClr val="FFFFFF"/>
                </a:solidFill>
                <a:latin typeface="Aptos"/>
              </a:defRPr>
            </a:pPr>
            <a:r>
              <a:t>04</a:t>
            </a:r>
          </a:p>
        </p:txBody>
      </p:sp>
      <p:sp>
        <p:nvSpPr>
          <p:cNvPr id="20" name="TextBox 19"/>
          <p:cNvSpPr txBox="1"/>
          <p:nvPr/>
        </p:nvSpPr>
        <p:spPr>
          <a:xfrm>
            <a:off x="1417320" y="4123944"/>
            <a:ext cx="9144000"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Results &amp; explanation</a:t>
            </a:r>
          </a:p>
        </p:txBody>
      </p:sp>
      <p:sp>
        <p:nvSpPr>
          <p:cNvPr id="21" name="Rounded Rectangle 20"/>
          <p:cNvSpPr/>
          <p:nvPr/>
        </p:nvSpPr>
        <p:spPr>
          <a:xfrm>
            <a:off x="548640" y="4837176"/>
            <a:ext cx="594360" cy="530352"/>
          </a:xfrm>
          <a:prstGeom prst="roundRect">
            <a:avLst>
              <a:gd name="adj" fmla="val 12000"/>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946904"/>
            <a:ext cx="502920" cy="274320"/>
          </a:xfrm>
          <a:prstGeom prst="rect">
            <a:avLst/>
          </a:prstGeom>
          <a:noFill/>
        </p:spPr>
        <p:txBody>
          <a:bodyPr wrap="square" lIns="0" rIns="0" tIns="0" bIns="0">
            <a:spAutoFit/>
          </a:bodyPr>
          <a:lstStyle/>
          <a:p>
            <a:pPr algn="ctr">
              <a:spcAft>
                <a:spcPts val="700"/>
              </a:spcAft>
              <a:defRPr sz="1900" b="1">
                <a:solidFill>
                  <a:srgbClr val="FFFFFF"/>
                </a:solidFill>
                <a:latin typeface="Aptos"/>
              </a:defRPr>
            </a:pPr>
            <a:r>
              <a:t>05</a:t>
            </a:r>
          </a:p>
        </p:txBody>
      </p:sp>
      <p:sp>
        <p:nvSpPr>
          <p:cNvPr id="23" name="TextBox 22"/>
          <p:cNvSpPr txBox="1"/>
          <p:nvPr/>
        </p:nvSpPr>
        <p:spPr>
          <a:xfrm>
            <a:off x="1417320" y="4910328"/>
            <a:ext cx="9144000"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Demonstration &amp; conclusion</a:t>
            </a:r>
          </a:p>
        </p:txBody>
      </p:sp>
    </p:spTree>
  </p:cSld>
  <p:clrMapOvr>
    <a:masterClrMapping/>
  </p:clrMapOvr>
  <p:transition advClick="1"/>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PROBLEM</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The problem: planning stock from changing sales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03</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Thesis §§1.2–1.6; data/raw/C1.csv–C8.csv</a:t>
            </a:r>
          </a:p>
        </p:txBody>
      </p:sp>
      <p:sp>
        <p:nvSpPr>
          <p:cNvPr id="10" name="Rounded Rectangle 9"/>
          <p:cNvSpPr/>
          <p:nvPr/>
        </p:nvSpPr>
        <p:spPr>
          <a:xfrm>
            <a:off x="548640" y="1783080"/>
            <a:ext cx="3529584" cy="324612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47672"/>
            <a:ext cx="3127248"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Understocking</a:t>
            </a:r>
          </a:p>
        </p:txBody>
      </p:sp>
      <p:sp>
        <p:nvSpPr>
          <p:cNvPr id="12" name="TextBox 11"/>
          <p:cNvSpPr txBox="1"/>
          <p:nvPr/>
        </p:nvSpPr>
        <p:spPr>
          <a:xfrm>
            <a:off x="749808" y="2578608"/>
            <a:ext cx="3127248" cy="2377439"/>
          </a:xfrm>
          <a:prstGeom prst="rect">
            <a:avLst/>
          </a:prstGeom>
          <a:noFill/>
        </p:spPr>
        <p:txBody>
          <a:bodyPr wrap="square" lIns="0" rIns="0" tIns="0" bIns="0">
            <a:spAutoFit/>
          </a:bodyPr>
          <a:lstStyle/>
          <a:p>
            <a:pPr>
              <a:spcAft>
                <a:spcPts val="700"/>
              </a:spcAft>
              <a:defRPr sz="2100" b="0">
                <a:solidFill>
                  <a:srgbClr val="17344A"/>
                </a:solidFill>
                <a:latin typeface="Aptos"/>
              </a:defRPr>
            </a:pPr>
            <a:r>
              <a:t>Insufficient stock</a:t>
            </a:r>
          </a:p>
          <a:p>
            <a:pPr>
              <a:spcAft>
                <a:spcPts val="700"/>
              </a:spcAft>
              <a:defRPr sz="2100" b="0">
                <a:solidFill>
                  <a:srgbClr val="17344A"/>
                </a:solidFill>
                <a:latin typeface="Aptos"/>
              </a:defRPr>
            </a:pPr>
            <a:r>
              <a:t>Unmet demand</a:t>
            </a:r>
          </a:p>
          <a:p>
            <a:pPr>
              <a:spcAft>
                <a:spcPts val="700"/>
              </a:spcAft>
              <a:defRPr sz="2100" b="0">
                <a:solidFill>
                  <a:srgbClr val="17344A"/>
                </a:solidFill>
                <a:latin typeface="Aptos"/>
              </a:defRPr>
            </a:pPr>
            <a:r>
              <a:t>Reactive purchasing</a:t>
            </a:r>
          </a:p>
        </p:txBody>
      </p:sp>
      <p:sp>
        <p:nvSpPr>
          <p:cNvPr id="13" name="Rounded Rectangle 12"/>
          <p:cNvSpPr/>
          <p:nvPr/>
        </p:nvSpPr>
        <p:spPr>
          <a:xfrm>
            <a:off x="4334256" y="1783080"/>
            <a:ext cx="3529584" cy="324612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1947672"/>
            <a:ext cx="3127248"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Overstocking</a:t>
            </a:r>
          </a:p>
        </p:txBody>
      </p:sp>
      <p:sp>
        <p:nvSpPr>
          <p:cNvPr id="15" name="TextBox 14"/>
          <p:cNvSpPr txBox="1"/>
          <p:nvPr/>
        </p:nvSpPr>
        <p:spPr>
          <a:xfrm>
            <a:off x="4535424" y="2578608"/>
            <a:ext cx="3127248" cy="2377439"/>
          </a:xfrm>
          <a:prstGeom prst="rect">
            <a:avLst/>
          </a:prstGeom>
          <a:noFill/>
        </p:spPr>
        <p:txBody>
          <a:bodyPr wrap="square" lIns="0" rIns="0" tIns="0" bIns="0">
            <a:spAutoFit/>
          </a:bodyPr>
          <a:lstStyle/>
          <a:p>
            <a:pPr>
              <a:spcAft>
                <a:spcPts val="700"/>
              </a:spcAft>
              <a:defRPr sz="2100" b="0">
                <a:solidFill>
                  <a:srgbClr val="17344A"/>
                </a:solidFill>
                <a:latin typeface="Aptos"/>
              </a:defRPr>
            </a:pPr>
            <a:r>
              <a:t>Capital tied up</a:t>
            </a:r>
          </a:p>
          <a:p>
            <a:pPr>
              <a:spcAft>
                <a:spcPts val="700"/>
              </a:spcAft>
              <a:defRPr sz="2100" b="0">
                <a:solidFill>
                  <a:srgbClr val="17344A"/>
                </a:solidFill>
                <a:latin typeface="Aptos"/>
              </a:defRPr>
            </a:pPr>
            <a:r>
              <a:t>Storage pressure</a:t>
            </a:r>
          </a:p>
          <a:p>
            <a:pPr>
              <a:spcAft>
                <a:spcPts val="700"/>
              </a:spcAft>
              <a:defRPr sz="2100" b="0">
                <a:solidFill>
                  <a:srgbClr val="17344A"/>
                </a:solidFill>
                <a:latin typeface="Aptos"/>
              </a:defRPr>
            </a:pPr>
            <a:r>
              <a:t>Risk of expiry</a:t>
            </a:r>
          </a:p>
        </p:txBody>
      </p:sp>
      <p:sp>
        <p:nvSpPr>
          <p:cNvPr id="16" name="Rounded Rectangle 15"/>
          <p:cNvSpPr/>
          <p:nvPr/>
        </p:nvSpPr>
        <p:spPr>
          <a:xfrm>
            <a:off x="8119872" y="1783080"/>
            <a:ext cx="3529584" cy="324612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947672"/>
            <a:ext cx="3127248"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Forecasting challenge</a:t>
            </a:r>
          </a:p>
        </p:txBody>
      </p:sp>
      <p:sp>
        <p:nvSpPr>
          <p:cNvPr id="18" name="TextBox 17"/>
          <p:cNvSpPr txBox="1"/>
          <p:nvPr/>
        </p:nvSpPr>
        <p:spPr>
          <a:xfrm>
            <a:off x="8321040" y="2578608"/>
            <a:ext cx="3127248" cy="2377439"/>
          </a:xfrm>
          <a:prstGeom prst="rect">
            <a:avLst/>
          </a:prstGeom>
          <a:noFill/>
        </p:spPr>
        <p:txBody>
          <a:bodyPr wrap="square" lIns="0" rIns="0" tIns="0" bIns="0">
            <a:spAutoFit/>
          </a:bodyPr>
          <a:lstStyle/>
          <a:p>
            <a:pPr>
              <a:spcAft>
                <a:spcPts val="700"/>
              </a:spcAft>
              <a:defRPr sz="2100" b="0">
                <a:solidFill>
                  <a:srgbClr val="17344A"/>
                </a:solidFill>
                <a:latin typeface="Aptos"/>
              </a:defRPr>
            </a:pPr>
            <a:r>
              <a:t>Different category patterns</a:t>
            </a:r>
          </a:p>
          <a:p>
            <a:pPr>
              <a:spcAft>
                <a:spcPts val="700"/>
              </a:spcAft>
              <a:defRPr sz="2100" b="0">
                <a:solidFill>
                  <a:srgbClr val="17344A"/>
                </a:solidFill>
                <a:latin typeface="Aptos"/>
              </a:defRPr>
            </a:pPr>
            <a:r>
              <a:t>Limited real data</a:t>
            </a:r>
          </a:p>
          <a:p>
            <a:pPr>
              <a:spcAft>
                <a:spcPts val="700"/>
              </a:spcAft>
              <a:defRPr sz="2100" b="0">
                <a:solidFill>
                  <a:srgbClr val="17344A"/>
                </a:solidFill>
                <a:latin typeface="Aptos"/>
              </a:defRPr>
            </a:pPr>
            <a:r>
              <a:t>Need for understandable outputs</a:t>
            </a:r>
          </a:p>
        </p:txBody>
      </p:sp>
      <p:sp>
        <p:nvSpPr>
          <p:cNvPr id="19" name="Rounded Rectangle 18"/>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Research question: how can historical sales support usable, category-wise forecasting?</a:t>
            </a:r>
          </a:p>
        </p:txBody>
      </p:sp>
    </p:spTree>
  </p:cSld>
  <p:clrMapOvr>
    <a:masterClrMapping/>
  </p:clrMapOvr>
  <p:transition advClick="1"/>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OBJECTIVES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Objectives and the delivered scope</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04</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Thesis §1.4; model_metrics.json; services/ and src/models/</a:t>
            </a:r>
          </a:p>
        </p:txBody>
      </p:sp>
      <p:sp>
        <p:nvSpPr>
          <p:cNvPr id="10" name="TextBox 9"/>
          <p:cNvSpPr txBox="1"/>
          <p:nvPr/>
        </p:nvSpPr>
        <p:spPr>
          <a:xfrm>
            <a:off x="594360" y="1691640"/>
            <a:ext cx="594360" cy="457200"/>
          </a:xfrm>
          <a:prstGeom prst="rect">
            <a:avLst/>
          </a:prstGeom>
          <a:noFill/>
        </p:spPr>
        <p:txBody>
          <a:bodyPr wrap="square" lIns="0" rIns="0" tIns="0" bIns="0">
            <a:spAutoFit/>
          </a:bodyPr>
          <a:lstStyle/>
          <a:p>
            <a:pPr>
              <a:spcAft>
                <a:spcPts val="700"/>
              </a:spcAft>
              <a:defRPr sz="2800" b="1">
                <a:solidFill>
                  <a:srgbClr val="1678AD"/>
                </a:solidFill>
                <a:latin typeface="Aptos"/>
              </a:defRPr>
            </a:pPr>
            <a:r>
              <a:t>01</a:t>
            </a:r>
          </a:p>
        </p:txBody>
      </p:sp>
      <p:sp>
        <p:nvSpPr>
          <p:cNvPr id="11" name="TextBox 10"/>
          <p:cNvSpPr txBox="1"/>
          <p:nvPr/>
        </p:nvSpPr>
        <p:spPr>
          <a:xfrm>
            <a:off x="1417320" y="1691640"/>
            <a:ext cx="1874519"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Prepare</a:t>
            </a:r>
          </a:p>
        </p:txBody>
      </p:sp>
      <p:sp>
        <p:nvSpPr>
          <p:cNvPr id="12" name="TextBox 11"/>
          <p:cNvSpPr txBox="1"/>
          <p:nvPr/>
        </p:nvSpPr>
        <p:spPr>
          <a:xfrm>
            <a:off x="3291840" y="1719072"/>
            <a:ext cx="8183879" cy="694944"/>
          </a:xfrm>
          <a:prstGeom prst="rect">
            <a:avLst/>
          </a:prstGeom>
          <a:noFill/>
        </p:spPr>
        <p:txBody>
          <a:bodyPr wrap="square" lIns="0" rIns="0" tIns="0" bIns="0">
            <a:spAutoFit/>
          </a:bodyPr>
          <a:lstStyle/>
          <a:p>
            <a:pPr>
              <a:spcAft>
                <a:spcPts val="700"/>
              </a:spcAft>
              <a:defRPr sz="2300" b="0">
                <a:solidFill>
                  <a:srgbClr val="17344A"/>
                </a:solidFill>
                <a:latin typeface="Aptos"/>
              </a:defRPr>
            </a:pPr>
            <a:r>
              <a:t>Organise and inspect category-wise weekly sales.</a:t>
            </a:r>
          </a:p>
        </p:txBody>
      </p:sp>
      <p:sp>
        <p:nvSpPr>
          <p:cNvPr id="13" name="TextBox 12"/>
          <p:cNvSpPr txBox="1"/>
          <p:nvPr/>
        </p:nvSpPr>
        <p:spPr>
          <a:xfrm>
            <a:off x="594360" y="2660904"/>
            <a:ext cx="594360" cy="457200"/>
          </a:xfrm>
          <a:prstGeom prst="rect">
            <a:avLst/>
          </a:prstGeom>
          <a:noFill/>
        </p:spPr>
        <p:txBody>
          <a:bodyPr wrap="square" lIns="0" rIns="0" tIns="0" bIns="0">
            <a:spAutoFit/>
          </a:bodyPr>
          <a:lstStyle/>
          <a:p>
            <a:pPr>
              <a:spcAft>
                <a:spcPts val="700"/>
              </a:spcAft>
              <a:defRPr sz="2800" b="1">
                <a:solidFill>
                  <a:srgbClr val="1678AD"/>
                </a:solidFill>
                <a:latin typeface="Aptos"/>
              </a:defRPr>
            </a:pPr>
            <a:r>
              <a:t>02</a:t>
            </a:r>
          </a:p>
        </p:txBody>
      </p:sp>
      <p:sp>
        <p:nvSpPr>
          <p:cNvPr id="14" name="TextBox 13"/>
          <p:cNvSpPr txBox="1"/>
          <p:nvPr/>
        </p:nvSpPr>
        <p:spPr>
          <a:xfrm>
            <a:off x="1417320" y="2660904"/>
            <a:ext cx="1874519"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Predict</a:t>
            </a:r>
          </a:p>
        </p:txBody>
      </p:sp>
      <p:sp>
        <p:nvSpPr>
          <p:cNvPr id="15" name="TextBox 14"/>
          <p:cNvSpPr txBox="1"/>
          <p:nvPr/>
        </p:nvSpPr>
        <p:spPr>
          <a:xfrm>
            <a:off x="3291840" y="2688336"/>
            <a:ext cx="8183879" cy="694944"/>
          </a:xfrm>
          <a:prstGeom prst="rect">
            <a:avLst/>
          </a:prstGeom>
          <a:noFill/>
        </p:spPr>
        <p:txBody>
          <a:bodyPr wrap="square" lIns="0" rIns="0" tIns="0" bIns="0">
            <a:spAutoFit/>
          </a:bodyPr>
          <a:lstStyle/>
          <a:p>
            <a:pPr>
              <a:spcAft>
                <a:spcPts val="700"/>
              </a:spcAft>
              <a:defRPr sz="2300" b="0">
                <a:solidFill>
                  <a:srgbClr val="17344A"/>
                </a:solidFill>
                <a:latin typeface="Aptos"/>
              </a:defRPr>
            </a:pPr>
            <a:r>
              <a:t>Implement statistical, boosted-tree and sequence models.</a:t>
            </a:r>
          </a:p>
        </p:txBody>
      </p:sp>
      <p:sp>
        <p:nvSpPr>
          <p:cNvPr id="16" name="TextBox 15"/>
          <p:cNvSpPr txBox="1"/>
          <p:nvPr/>
        </p:nvSpPr>
        <p:spPr>
          <a:xfrm>
            <a:off x="594360" y="3630168"/>
            <a:ext cx="594360" cy="457200"/>
          </a:xfrm>
          <a:prstGeom prst="rect">
            <a:avLst/>
          </a:prstGeom>
          <a:noFill/>
        </p:spPr>
        <p:txBody>
          <a:bodyPr wrap="square" lIns="0" rIns="0" tIns="0" bIns="0">
            <a:spAutoFit/>
          </a:bodyPr>
          <a:lstStyle/>
          <a:p>
            <a:pPr>
              <a:spcAft>
                <a:spcPts val="700"/>
              </a:spcAft>
              <a:defRPr sz="2800" b="1">
                <a:solidFill>
                  <a:srgbClr val="1678AD"/>
                </a:solidFill>
                <a:latin typeface="Aptos"/>
              </a:defRPr>
            </a:pPr>
            <a:r>
              <a:t>03</a:t>
            </a:r>
          </a:p>
        </p:txBody>
      </p:sp>
      <p:sp>
        <p:nvSpPr>
          <p:cNvPr id="17" name="TextBox 16"/>
          <p:cNvSpPr txBox="1"/>
          <p:nvPr/>
        </p:nvSpPr>
        <p:spPr>
          <a:xfrm>
            <a:off x="1417320" y="3630168"/>
            <a:ext cx="1874519"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Compare</a:t>
            </a:r>
          </a:p>
        </p:txBody>
      </p:sp>
      <p:sp>
        <p:nvSpPr>
          <p:cNvPr id="18" name="TextBox 17"/>
          <p:cNvSpPr txBox="1"/>
          <p:nvPr/>
        </p:nvSpPr>
        <p:spPr>
          <a:xfrm>
            <a:off x="3291840" y="3657600"/>
            <a:ext cx="8183879" cy="694944"/>
          </a:xfrm>
          <a:prstGeom prst="rect">
            <a:avLst/>
          </a:prstGeom>
          <a:noFill/>
        </p:spPr>
        <p:txBody>
          <a:bodyPr wrap="square" lIns="0" rIns="0" tIns="0" bIns="0">
            <a:spAutoFit/>
          </a:bodyPr>
          <a:lstStyle/>
          <a:p>
            <a:pPr>
              <a:spcAft>
                <a:spcPts val="700"/>
              </a:spcAft>
              <a:defRPr sz="2300" b="0">
                <a:solidFill>
                  <a:srgbClr val="17344A"/>
                </a:solidFill>
                <a:latin typeface="Aptos"/>
              </a:defRPr>
            </a:pPr>
            <a:r>
              <a:t>Assess MAE, RMSE, MAPE and recorded timing.</a:t>
            </a:r>
          </a:p>
        </p:txBody>
      </p:sp>
      <p:sp>
        <p:nvSpPr>
          <p:cNvPr id="19" name="TextBox 18"/>
          <p:cNvSpPr txBox="1"/>
          <p:nvPr/>
        </p:nvSpPr>
        <p:spPr>
          <a:xfrm>
            <a:off x="594360" y="4599432"/>
            <a:ext cx="594360" cy="457200"/>
          </a:xfrm>
          <a:prstGeom prst="rect">
            <a:avLst/>
          </a:prstGeom>
          <a:noFill/>
        </p:spPr>
        <p:txBody>
          <a:bodyPr wrap="square" lIns="0" rIns="0" tIns="0" bIns="0">
            <a:spAutoFit/>
          </a:bodyPr>
          <a:lstStyle/>
          <a:p>
            <a:pPr>
              <a:spcAft>
                <a:spcPts val="700"/>
              </a:spcAft>
              <a:defRPr sz="2800" b="1">
                <a:solidFill>
                  <a:srgbClr val="1678AD"/>
                </a:solidFill>
                <a:latin typeface="Aptos"/>
              </a:defRPr>
            </a:pPr>
            <a:r>
              <a:t>04</a:t>
            </a:r>
          </a:p>
        </p:txBody>
      </p:sp>
      <p:sp>
        <p:nvSpPr>
          <p:cNvPr id="20" name="TextBox 19"/>
          <p:cNvSpPr txBox="1"/>
          <p:nvPr/>
        </p:nvSpPr>
        <p:spPr>
          <a:xfrm>
            <a:off x="1417320" y="4599432"/>
            <a:ext cx="1874519" cy="457200"/>
          </a:xfrm>
          <a:prstGeom prst="rect">
            <a:avLst/>
          </a:prstGeom>
          <a:noFill/>
        </p:spPr>
        <p:txBody>
          <a:bodyPr wrap="square" lIns="0" rIns="0" tIns="0" bIns="0">
            <a:spAutoFit/>
          </a:bodyPr>
          <a:lstStyle/>
          <a:p>
            <a:pPr>
              <a:spcAft>
                <a:spcPts val="700"/>
              </a:spcAft>
              <a:defRPr sz="2500" b="1">
                <a:solidFill>
                  <a:srgbClr val="17344A"/>
                </a:solidFill>
                <a:latin typeface="Aptos"/>
              </a:defRPr>
            </a:pPr>
            <a:r>
              <a:t>Deliver</a:t>
            </a:r>
          </a:p>
        </p:txBody>
      </p:sp>
      <p:sp>
        <p:nvSpPr>
          <p:cNvPr id="21" name="TextBox 20"/>
          <p:cNvSpPr txBox="1"/>
          <p:nvPr/>
        </p:nvSpPr>
        <p:spPr>
          <a:xfrm>
            <a:off x="3291840" y="4626864"/>
            <a:ext cx="8183879" cy="694944"/>
          </a:xfrm>
          <a:prstGeom prst="rect">
            <a:avLst/>
          </a:prstGeom>
          <a:noFill/>
        </p:spPr>
        <p:txBody>
          <a:bodyPr wrap="square" lIns="0" rIns="0" tIns="0" bIns="0">
            <a:spAutoFit/>
          </a:bodyPr>
          <a:lstStyle/>
          <a:p>
            <a:pPr>
              <a:spcAft>
                <a:spcPts val="700"/>
              </a:spcAft>
              <a:defRPr sz="2300" b="0">
                <a:solidFill>
                  <a:srgbClr val="17344A"/>
                </a:solidFill>
                <a:latin typeface="Aptos"/>
              </a:defRPr>
            </a:pPr>
            <a:r>
              <a:t>Provide forecasts, plots and explanations in a web application.</a:t>
            </a:r>
          </a:p>
        </p:txBody>
      </p:sp>
    </p:spTree>
  </p:cSld>
  <p:clrMapOvr>
    <a:masterClrMapping/>
  </p:clrMapOvr>
  <p:transition advClick="1"/>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LITERATURE</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Related work motivates a broader comparison</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05</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Ekanayake et al. (2025), local paper; Ke et al. (2017) [2]; Hewamalage et al. (2021) [3]</a:t>
            </a:r>
          </a:p>
        </p:txBody>
      </p:sp>
      <p:sp>
        <p:nvSpPr>
          <p:cNvPr id="10" name="Rectangle 9"/>
          <p:cNvSpPr/>
          <p:nvPr/>
        </p:nvSpPr>
        <p:spPr>
          <a:xfrm>
            <a:off x="548640" y="1828800"/>
            <a:ext cx="3017520" cy="896112"/>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920240"/>
            <a:ext cx="2807208" cy="804672"/>
          </a:xfrm>
          <a:prstGeom prst="rect">
            <a:avLst/>
          </a:prstGeom>
          <a:noFill/>
        </p:spPr>
        <p:txBody>
          <a:bodyPr wrap="square" lIns="0" rIns="0" tIns="0" bIns="0">
            <a:spAutoFit/>
          </a:bodyPr>
          <a:lstStyle/>
          <a:p>
            <a:pPr>
              <a:spcAft>
                <a:spcPts val="700"/>
              </a:spcAft>
              <a:defRPr sz="1900" b="1">
                <a:solidFill>
                  <a:srgbClr val="FFFFFF"/>
                </a:solidFill>
                <a:latin typeface="Aptos"/>
              </a:defRPr>
            </a:pPr>
            <a:r>
              <a:t>Study</a:t>
            </a:r>
          </a:p>
        </p:txBody>
      </p:sp>
      <p:sp>
        <p:nvSpPr>
          <p:cNvPr id="12" name="Rectangle 11"/>
          <p:cNvSpPr/>
          <p:nvPr/>
        </p:nvSpPr>
        <p:spPr>
          <a:xfrm>
            <a:off x="3566160" y="1828800"/>
            <a:ext cx="3977639" cy="896112"/>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7" y="1920240"/>
            <a:ext cx="3767327" cy="804672"/>
          </a:xfrm>
          <a:prstGeom prst="rect">
            <a:avLst/>
          </a:prstGeom>
          <a:noFill/>
        </p:spPr>
        <p:txBody>
          <a:bodyPr wrap="square" lIns="0" rIns="0" tIns="0" bIns="0">
            <a:spAutoFit/>
          </a:bodyPr>
          <a:lstStyle/>
          <a:p>
            <a:pPr>
              <a:spcAft>
                <a:spcPts val="700"/>
              </a:spcAft>
              <a:defRPr sz="1900" b="1">
                <a:solidFill>
                  <a:srgbClr val="FFFFFF"/>
                </a:solidFill>
                <a:latin typeface="Aptos"/>
              </a:defRPr>
            </a:pPr>
            <a:r>
              <a:t>Relevant contribution</a:t>
            </a:r>
          </a:p>
        </p:txBody>
      </p:sp>
      <p:sp>
        <p:nvSpPr>
          <p:cNvPr id="14" name="Rectangle 13"/>
          <p:cNvSpPr/>
          <p:nvPr/>
        </p:nvSpPr>
        <p:spPr>
          <a:xfrm>
            <a:off x="7543800" y="1828800"/>
            <a:ext cx="4069080" cy="896112"/>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3527" y="1920240"/>
            <a:ext cx="3858768" cy="804672"/>
          </a:xfrm>
          <a:prstGeom prst="rect">
            <a:avLst/>
          </a:prstGeom>
          <a:noFill/>
        </p:spPr>
        <p:txBody>
          <a:bodyPr wrap="square" lIns="0" rIns="0" tIns="0" bIns="0">
            <a:spAutoFit/>
          </a:bodyPr>
          <a:lstStyle/>
          <a:p>
            <a:pPr>
              <a:spcAft>
                <a:spcPts val="700"/>
              </a:spcAft>
              <a:defRPr sz="1900" b="1">
                <a:solidFill>
                  <a:srgbClr val="FFFFFF"/>
                </a:solidFill>
                <a:latin typeface="Aptos"/>
              </a:defRPr>
            </a:pPr>
            <a:r>
              <a:t>Role in this project</a:t>
            </a:r>
          </a:p>
        </p:txBody>
      </p:sp>
      <p:sp>
        <p:nvSpPr>
          <p:cNvPr id="16" name="Rectangle 15"/>
          <p:cNvSpPr/>
          <p:nvPr/>
        </p:nvSpPr>
        <p:spPr>
          <a:xfrm>
            <a:off x="548640" y="2724912"/>
            <a:ext cx="3017520"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816352"/>
            <a:ext cx="280720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Ekanayake et al., 2025 [1]</a:t>
            </a:r>
          </a:p>
        </p:txBody>
      </p:sp>
      <p:sp>
        <p:nvSpPr>
          <p:cNvPr id="18" name="Rectangle 17"/>
          <p:cNvSpPr/>
          <p:nvPr/>
        </p:nvSpPr>
        <p:spPr>
          <a:xfrm>
            <a:off x="3566160" y="2724912"/>
            <a:ext cx="3977639"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5887" y="2816352"/>
            <a:ext cx="3767327"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SARIMA + Flask drug-sales application</a:t>
            </a:r>
          </a:p>
        </p:txBody>
      </p:sp>
      <p:sp>
        <p:nvSpPr>
          <p:cNvPr id="20" name="Rectangle 19"/>
          <p:cNvSpPr/>
          <p:nvPr/>
        </p:nvSpPr>
        <p:spPr>
          <a:xfrm>
            <a:off x="7543800" y="2724912"/>
            <a:ext cx="4069080"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53527" y="2816352"/>
            <a:ext cx="385876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Earlier categorical forecasting work</a:t>
            </a:r>
          </a:p>
        </p:txBody>
      </p:sp>
      <p:sp>
        <p:nvSpPr>
          <p:cNvPr id="22" name="Rectangle 21"/>
          <p:cNvSpPr/>
          <p:nvPr/>
        </p:nvSpPr>
        <p:spPr>
          <a:xfrm>
            <a:off x="548640" y="3621024"/>
            <a:ext cx="3017520"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712463"/>
            <a:ext cx="280720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Ke et al., 2017 [2]</a:t>
            </a:r>
          </a:p>
        </p:txBody>
      </p:sp>
      <p:sp>
        <p:nvSpPr>
          <p:cNvPr id="24" name="Rectangle 23"/>
          <p:cNvSpPr/>
          <p:nvPr/>
        </p:nvSpPr>
        <p:spPr>
          <a:xfrm>
            <a:off x="3566160" y="3621024"/>
            <a:ext cx="3977639"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75887" y="3712463"/>
            <a:ext cx="3767327"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Efficient gradient-boosted trees</a:t>
            </a:r>
          </a:p>
        </p:txBody>
      </p:sp>
      <p:sp>
        <p:nvSpPr>
          <p:cNvPr id="26" name="Rectangle 25"/>
          <p:cNvSpPr/>
          <p:nvPr/>
        </p:nvSpPr>
        <p:spPr>
          <a:xfrm>
            <a:off x="7543800" y="3621024"/>
            <a:ext cx="4069080"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53527" y="3712463"/>
            <a:ext cx="385876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LightGBM model comparison</a:t>
            </a:r>
          </a:p>
        </p:txBody>
      </p:sp>
      <p:sp>
        <p:nvSpPr>
          <p:cNvPr id="28" name="Rectangle 27"/>
          <p:cNvSpPr/>
          <p:nvPr/>
        </p:nvSpPr>
        <p:spPr>
          <a:xfrm>
            <a:off x="548640" y="4517136"/>
            <a:ext cx="3017520"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608575"/>
            <a:ext cx="280720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Hewamalage et al., 2021 [3]</a:t>
            </a:r>
          </a:p>
        </p:txBody>
      </p:sp>
      <p:sp>
        <p:nvSpPr>
          <p:cNvPr id="30" name="Rectangle 29"/>
          <p:cNvSpPr/>
          <p:nvPr/>
        </p:nvSpPr>
        <p:spPr>
          <a:xfrm>
            <a:off x="3566160" y="4517136"/>
            <a:ext cx="3977639"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75887" y="4608575"/>
            <a:ext cx="3767327"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Review of recurrent forecasting models</a:t>
            </a:r>
          </a:p>
        </p:txBody>
      </p:sp>
      <p:sp>
        <p:nvSpPr>
          <p:cNvPr id="32" name="Rectangle 31"/>
          <p:cNvSpPr/>
          <p:nvPr/>
        </p:nvSpPr>
        <p:spPr>
          <a:xfrm>
            <a:off x="7543800" y="4517136"/>
            <a:ext cx="4069080" cy="89611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53527" y="4608575"/>
            <a:ext cx="3858768" cy="804672"/>
          </a:xfrm>
          <a:prstGeom prst="rect">
            <a:avLst/>
          </a:prstGeom>
          <a:noFill/>
        </p:spPr>
        <p:txBody>
          <a:bodyPr wrap="square" lIns="0" rIns="0" tIns="0" bIns="0">
            <a:spAutoFit/>
          </a:bodyPr>
          <a:lstStyle/>
          <a:p>
            <a:pPr>
              <a:spcAft>
                <a:spcPts val="700"/>
              </a:spcAft>
              <a:defRPr sz="1900" b="0">
                <a:solidFill>
                  <a:srgbClr val="17344A"/>
                </a:solidFill>
                <a:latin typeface="Aptos"/>
              </a:defRPr>
            </a:pPr>
            <a:r>
              <a:t>LSTM / GRU comparison</a:t>
            </a:r>
          </a:p>
        </p:txBody>
      </p:sp>
      <p:sp>
        <p:nvSpPr>
          <p:cNvPr id="34" name="Rounded Rectangle 33"/>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Project extension: multi-model comparison + explanations + modular application services.</a:t>
            </a:r>
          </a:p>
        </p:txBody>
      </p:sp>
    </p:spTree>
  </p:cSld>
  <p:clrMapOvr>
    <a:masterClrMapping/>
  </p:clrMapOvr>
  <p:transition advClick="1"/>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DATA</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The dataset: eight weekly sales series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06</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data/raw/C1.csv–C8.csv; thesis §3.2; student confirmation, 13 Sep 2026</a:t>
            </a:r>
          </a:p>
        </p:txBody>
      </p:sp>
      <p:sp>
        <p:nvSpPr>
          <p:cNvPr id="10" name="Rounded Rectangle 9"/>
          <p:cNvSpPr/>
          <p:nvPr/>
        </p:nvSpPr>
        <p:spPr>
          <a:xfrm>
            <a:off x="548640" y="1783080"/>
            <a:ext cx="2505456" cy="138988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84248"/>
            <a:ext cx="2194560" cy="548640"/>
          </a:xfrm>
          <a:prstGeom prst="rect">
            <a:avLst/>
          </a:prstGeom>
          <a:noFill/>
        </p:spPr>
        <p:txBody>
          <a:bodyPr wrap="square" lIns="0" rIns="0" tIns="0" bIns="0">
            <a:spAutoFit/>
          </a:bodyPr>
          <a:lstStyle/>
          <a:p>
            <a:pPr>
              <a:spcAft>
                <a:spcPts val="700"/>
              </a:spcAft>
              <a:defRPr sz="3200" b="1">
                <a:solidFill>
                  <a:srgbClr val="1678AD"/>
                </a:solidFill>
                <a:latin typeface="Aptos"/>
              </a:defRPr>
            </a:pPr>
            <a:r>
              <a:t>8</a:t>
            </a:r>
          </a:p>
        </p:txBody>
      </p:sp>
      <p:sp>
        <p:nvSpPr>
          <p:cNvPr id="12" name="TextBox 11"/>
          <p:cNvSpPr txBox="1"/>
          <p:nvPr/>
        </p:nvSpPr>
        <p:spPr>
          <a:xfrm>
            <a:off x="713232" y="2688336"/>
            <a:ext cx="2240280" cy="274320"/>
          </a:xfrm>
          <a:prstGeom prst="rect">
            <a:avLst/>
          </a:prstGeom>
          <a:noFill/>
        </p:spPr>
        <p:txBody>
          <a:bodyPr wrap="square" lIns="0" rIns="0" tIns="0" bIns="0">
            <a:spAutoFit/>
          </a:bodyPr>
          <a:lstStyle/>
          <a:p>
            <a:pPr>
              <a:spcAft>
                <a:spcPts val="700"/>
              </a:spcAft>
              <a:defRPr sz="1700" b="0">
                <a:solidFill>
                  <a:srgbClr val="526879"/>
                </a:solidFill>
                <a:latin typeface="Aptos"/>
              </a:defRPr>
            </a:pPr>
            <a:r>
              <a:t>drug categories</a:t>
            </a:r>
          </a:p>
        </p:txBody>
      </p:sp>
      <p:sp>
        <p:nvSpPr>
          <p:cNvPr id="13" name="Rounded Rectangle 12"/>
          <p:cNvSpPr/>
          <p:nvPr/>
        </p:nvSpPr>
        <p:spPr>
          <a:xfrm>
            <a:off x="3410712" y="1783080"/>
            <a:ext cx="2505456" cy="138988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5304" y="1984248"/>
            <a:ext cx="2194560" cy="548640"/>
          </a:xfrm>
          <a:prstGeom prst="rect">
            <a:avLst/>
          </a:prstGeom>
          <a:noFill/>
        </p:spPr>
        <p:txBody>
          <a:bodyPr wrap="square" lIns="0" rIns="0" tIns="0" bIns="0">
            <a:spAutoFit/>
          </a:bodyPr>
          <a:lstStyle/>
          <a:p>
            <a:pPr>
              <a:spcAft>
                <a:spcPts val="700"/>
              </a:spcAft>
              <a:defRPr sz="3200" b="1">
                <a:solidFill>
                  <a:srgbClr val="1678AD"/>
                </a:solidFill>
                <a:latin typeface="Aptos"/>
              </a:defRPr>
            </a:pPr>
            <a:r>
              <a:t>517</a:t>
            </a:r>
          </a:p>
        </p:txBody>
      </p:sp>
      <p:sp>
        <p:nvSpPr>
          <p:cNvPr id="15" name="TextBox 14"/>
          <p:cNvSpPr txBox="1"/>
          <p:nvPr/>
        </p:nvSpPr>
        <p:spPr>
          <a:xfrm>
            <a:off x="3575304" y="2688336"/>
            <a:ext cx="2240280" cy="274320"/>
          </a:xfrm>
          <a:prstGeom prst="rect">
            <a:avLst/>
          </a:prstGeom>
          <a:noFill/>
        </p:spPr>
        <p:txBody>
          <a:bodyPr wrap="square" lIns="0" rIns="0" tIns="0" bIns="0">
            <a:spAutoFit/>
          </a:bodyPr>
          <a:lstStyle/>
          <a:p>
            <a:pPr>
              <a:spcAft>
                <a:spcPts val="700"/>
              </a:spcAft>
              <a:defRPr sz="1700" b="0">
                <a:solidFill>
                  <a:srgbClr val="526879"/>
                </a:solidFill>
                <a:latin typeface="Aptos"/>
              </a:defRPr>
            </a:pPr>
            <a:r>
              <a:t>weeks per category</a:t>
            </a:r>
          </a:p>
        </p:txBody>
      </p:sp>
      <p:sp>
        <p:nvSpPr>
          <p:cNvPr id="16" name="Rounded Rectangle 15"/>
          <p:cNvSpPr/>
          <p:nvPr/>
        </p:nvSpPr>
        <p:spPr>
          <a:xfrm>
            <a:off x="6272784" y="1783080"/>
            <a:ext cx="2505456" cy="138988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1984248"/>
            <a:ext cx="2194560" cy="548640"/>
          </a:xfrm>
          <a:prstGeom prst="rect">
            <a:avLst/>
          </a:prstGeom>
          <a:noFill/>
        </p:spPr>
        <p:txBody>
          <a:bodyPr wrap="square" lIns="0" rIns="0" tIns="0" bIns="0">
            <a:spAutoFit/>
          </a:bodyPr>
          <a:lstStyle/>
          <a:p>
            <a:pPr>
              <a:spcAft>
                <a:spcPts val="700"/>
              </a:spcAft>
              <a:defRPr sz="3200" b="1">
                <a:solidFill>
                  <a:srgbClr val="1678AD"/>
                </a:solidFill>
                <a:latin typeface="Aptos"/>
              </a:defRPr>
            </a:pPr>
            <a:r>
              <a:t>2014–2023</a:t>
            </a:r>
          </a:p>
        </p:txBody>
      </p:sp>
      <p:sp>
        <p:nvSpPr>
          <p:cNvPr id="18" name="TextBox 17"/>
          <p:cNvSpPr txBox="1"/>
          <p:nvPr/>
        </p:nvSpPr>
        <p:spPr>
          <a:xfrm>
            <a:off x="6437376" y="2688336"/>
            <a:ext cx="2240280" cy="274320"/>
          </a:xfrm>
          <a:prstGeom prst="rect">
            <a:avLst/>
          </a:prstGeom>
          <a:noFill/>
        </p:spPr>
        <p:txBody>
          <a:bodyPr wrap="square" lIns="0" rIns="0" tIns="0" bIns="0">
            <a:spAutoFit/>
          </a:bodyPr>
          <a:lstStyle/>
          <a:p>
            <a:pPr>
              <a:spcAft>
                <a:spcPts val="700"/>
              </a:spcAft>
              <a:defRPr sz="1700" b="0">
                <a:solidFill>
                  <a:srgbClr val="526879"/>
                </a:solidFill>
                <a:latin typeface="Aptos"/>
              </a:defRPr>
            </a:pPr>
            <a:r>
              <a:t>stored date range</a:t>
            </a:r>
          </a:p>
        </p:txBody>
      </p:sp>
      <p:sp>
        <p:nvSpPr>
          <p:cNvPr id="19" name="Rounded Rectangle 18"/>
          <p:cNvSpPr/>
          <p:nvPr/>
        </p:nvSpPr>
        <p:spPr>
          <a:xfrm>
            <a:off x="9134856" y="1783080"/>
            <a:ext cx="2505456" cy="138988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9448" y="1984248"/>
            <a:ext cx="2194560" cy="548640"/>
          </a:xfrm>
          <a:prstGeom prst="rect">
            <a:avLst/>
          </a:prstGeom>
          <a:noFill/>
        </p:spPr>
        <p:txBody>
          <a:bodyPr wrap="square" lIns="0" rIns="0" tIns="0" bIns="0">
            <a:spAutoFit/>
          </a:bodyPr>
          <a:lstStyle/>
          <a:p>
            <a:pPr>
              <a:spcAft>
                <a:spcPts val="700"/>
              </a:spcAft>
              <a:defRPr sz="3200" b="1">
                <a:solidFill>
                  <a:srgbClr val="1678AD"/>
                </a:solidFill>
                <a:latin typeface="Aptos"/>
              </a:defRPr>
            </a:pPr>
            <a:r>
              <a:t>50:50</a:t>
            </a:r>
          </a:p>
        </p:txBody>
      </p:sp>
      <p:sp>
        <p:nvSpPr>
          <p:cNvPr id="21" name="TextBox 20"/>
          <p:cNvSpPr txBox="1"/>
          <p:nvPr/>
        </p:nvSpPr>
        <p:spPr>
          <a:xfrm>
            <a:off x="9299448" y="2688336"/>
            <a:ext cx="2240280" cy="274320"/>
          </a:xfrm>
          <a:prstGeom prst="rect">
            <a:avLst/>
          </a:prstGeom>
          <a:noFill/>
        </p:spPr>
        <p:txBody>
          <a:bodyPr wrap="square" lIns="0" rIns="0" tIns="0" bIns="0">
            <a:spAutoFit/>
          </a:bodyPr>
          <a:lstStyle/>
          <a:p>
            <a:pPr>
              <a:spcAft>
                <a:spcPts val="700"/>
              </a:spcAft>
              <a:defRPr sz="1700" b="0">
                <a:solidFill>
                  <a:srgbClr val="526879"/>
                </a:solidFill>
                <a:latin typeface="Aptos"/>
              </a:defRPr>
            </a:pPr>
            <a:r>
              <a:t>real / synthetic*</a:t>
            </a:r>
          </a:p>
        </p:txBody>
      </p:sp>
      <p:sp>
        <p:nvSpPr>
          <p:cNvPr id="22" name="TextBox 21"/>
          <p:cNvSpPr txBox="1"/>
          <p:nvPr/>
        </p:nvSpPr>
        <p:spPr>
          <a:xfrm>
            <a:off x="594360" y="3566160"/>
            <a:ext cx="6035040" cy="411480"/>
          </a:xfrm>
          <a:prstGeom prst="rect">
            <a:avLst/>
          </a:prstGeom>
          <a:noFill/>
        </p:spPr>
        <p:txBody>
          <a:bodyPr wrap="square" lIns="0" rIns="0" tIns="0" bIns="0">
            <a:spAutoFit/>
          </a:bodyPr>
          <a:lstStyle/>
          <a:p>
            <a:pPr>
              <a:spcAft>
                <a:spcPts val="700"/>
              </a:spcAft>
              <a:defRPr sz="2500" b="1">
                <a:solidFill>
                  <a:srgbClr val="17344A"/>
                </a:solidFill>
                <a:latin typeface="Aptos"/>
              </a:defRPr>
            </a:pPr>
            <a:r>
              <a:t>12 Jan 2014 → 03 Dec 2023</a:t>
            </a:r>
          </a:p>
        </p:txBody>
      </p:sp>
      <p:sp>
        <p:nvSpPr>
          <p:cNvPr id="23" name="TextBox 22"/>
          <p:cNvSpPr txBox="1"/>
          <p:nvPr/>
        </p:nvSpPr>
        <p:spPr>
          <a:xfrm>
            <a:off x="594360" y="4160520"/>
            <a:ext cx="6629400" cy="1188720"/>
          </a:xfrm>
          <a:prstGeom prst="rect">
            <a:avLst/>
          </a:prstGeom>
          <a:noFill/>
        </p:spPr>
        <p:txBody>
          <a:bodyPr wrap="square" lIns="0" rIns="0" tIns="0" bIns="0">
            <a:spAutoFit/>
          </a:bodyPr>
          <a:lstStyle/>
          <a:p>
            <a:pPr>
              <a:spcAft>
                <a:spcPts val="700"/>
              </a:spcAft>
              <a:defRPr sz="2100" b="0">
                <a:solidFill>
                  <a:srgbClr val="17344A"/>
                </a:solidFill>
                <a:latin typeface="Aptos"/>
              </a:defRPr>
            </a:pPr>
            <a:r>
              <a:t>One date + one sales value in each category file.</a:t>
            </a:r>
          </a:p>
          <a:p>
            <a:pPr>
              <a:spcAft>
                <a:spcPts val="700"/>
              </a:spcAft>
              <a:defRPr sz="2100" b="0">
                <a:solidFill>
                  <a:srgbClr val="17344A"/>
                </a:solidFill>
                <a:latin typeface="Aptos"/>
              </a:defRPr>
            </a:pPr>
            <a:r>
              <a:t>No missing cells; no duplicate dates; consistent 7-day spacing.</a:t>
            </a:r>
          </a:p>
        </p:txBody>
      </p:sp>
      <p:sp>
        <p:nvSpPr>
          <p:cNvPr id="24" name="Rounded Rectangle 23"/>
          <p:cNvSpPr/>
          <p:nvPr/>
        </p:nvSpPr>
        <p:spPr>
          <a:xfrm>
            <a:off x="7726679" y="3602736"/>
            <a:ext cx="3886200" cy="160020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3776472"/>
            <a:ext cx="3474720" cy="365760"/>
          </a:xfrm>
          <a:prstGeom prst="rect">
            <a:avLst/>
          </a:prstGeom>
          <a:noFill/>
        </p:spPr>
        <p:txBody>
          <a:bodyPr wrap="square" lIns="0" rIns="0" tIns="0" bIns="0">
            <a:spAutoFit/>
          </a:bodyPr>
          <a:lstStyle/>
          <a:p>
            <a:pPr>
              <a:spcAft>
                <a:spcPts val="700"/>
              </a:spcAft>
              <a:defRPr sz="2200" b="1">
                <a:solidFill>
                  <a:srgbClr val="1678AD"/>
                </a:solidFill>
                <a:latin typeface="Aptos"/>
              </a:defRPr>
            </a:pPr>
            <a:r>
              <a:t>Source context</a:t>
            </a:r>
          </a:p>
        </p:txBody>
      </p:sp>
      <p:sp>
        <p:nvSpPr>
          <p:cNvPr id="26" name="TextBox 25"/>
          <p:cNvSpPr txBox="1"/>
          <p:nvPr/>
        </p:nvSpPr>
        <p:spPr>
          <a:xfrm>
            <a:off x="7955279" y="4270248"/>
            <a:ext cx="3383280" cy="731520"/>
          </a:xfrm>
          <a:prstGeom prst="rect">
            <a:avLst/>
          </a:prstGeom>
          <a:noFill/>
        </p:spPr>
        <p:txBody>
          <a:bodyPr wrap="square" lIns="0" rIns="0" tIns="0" bIns="0">
            <a:spAutoFit/>
          </a:bodyPr>
          <a:lstStyle/>
          <a:p>
            <a:pPr>
              <a:spcAft>
                <a:spcPts val="700"/>
              </a:spcAft>
              <a:defRPr sz="2000" b="0">
                <a:solidFill>
                  <a:srgbClr val="17344A"/>
                </a:solidFill>
                <a:latin typeface="Aptos"/>
              </a:defRPr>
            </a:pPr>
            <a:r>
              <a:t>Two Kurunegala pharmacies</a:t>
            </a:r>
          </a:p>
          <a:p>
            <a:pPr>
              <a:spcAft>
                <a:spcPts val="700"/>
              </a:spcAft>
              <a:defRPr sz="2000" b="0">
                <a:solidFill>
                  <a:srgbClr val="17344A"/>
                </a:solidFill>
                <a:latin typeface="Aptos"/>
              </a:defRPr>
            </a:pPr>
            <a:r>
              <a:t>plus synthetic augmentation</a:t>
            </a:r>
          </a:p>
        </p:txBody>
      </p:sp>
      <p:sp>
        <p:nvSpPr>
          <p:cNvPr id="27" name="Rounded Rectangle 26"/>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*Student-confirmed approximate mix; row-level source labels and regional identifiers are unavailable.</a:t>
            </a:r>
          </a:p>
        </p:txBody>
      </p:sp>
    </p:spTree>
  </p:cSld>
  <p:clrMapOvr>
    <a:masterClrMapping/>
  </p:clrMapOvr>
  <p:transition advClick="1"/>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METHODOLOGY</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A model-specific preparation and forecasting pipeline</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07</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src/utils/preprocessing.py; src/models/{lightgbm,lstm,gru,transformer}_model.py</a:t>
            </a:r>
          </a:p>
        </p:txBody>
      </p:sp>
      <p:sp>
        <p:nvSpPr>
          <p:cNvPr id="10" name="Rounded Rectangle 9"/>
          <p:cNvSpPr/>
          <p:nvPr/>
        </p:nvSpPr>
        <p:spPr>
          <a:xfrm>
            <a:off x="548640" y="1965960"/>
            <a:ext cx="2359152" cy="203911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12848"/>
            <a:ext cx="2103120" cy="640080"/>
          </a:xfrm>
          <a:prstGeom prst="rect">
            <a:avLst/>
          </a:prstGeom>
          <a:noFill/>
        </p:spPr>
        <p:txBody>
          <a:bodyPr wrap="square" lIns="0" rIns="0" tIns="0" bIns="0">
            <a:spAutoFit/>
          </a:bodyPr>
          <a:lstStyle/>
          <a:p>
            <a:pPr>
              <a:spcAft>
                <a:spcPts val="700"/>
              </a:spcAft>
              <a:defRPr sz="2300" b="1">
                <a:solidFill>
                  <a:srgbClr val="1678AD"/>
                </a:solidFill>
                <a:latin typeface="Aptos"/>
              </a:defRPr>
            </a:pPr>
            <a:r>
              <a:t>Load &amp; order</a:t>
            </a:r>
          </a:p>
        </p:txBody>
      </p:sp>
      <p:sp>
        <p:nvSpPr>
          <p:cNvPr id="12" name="TextBox 11"/>
          <p:cNvSpPr txBox="1"/>
          <p:nvPr/>
        </p:nvSpPr>
        <p:spPr>
          <a:xfrm>
            <a:off x="685800" y="2999232"/>
            <a:ext cx="2103120" cy="868680"/>
          </a:xfrm>
          <a:prstGeom prst="rect">
            <a:avLst/>
          </a:prstGeom>
          <a:noFill/>
        </p:spPr>
        <p:txBody>
          <a:bodyPr wrap="square" lIns="0" rIns="0" tIns="0" bIns="0">
            <a:spAutoFit/>
          </a:bodyPr>
          <a:lstStyle/>
          <a:p>
            <a:pPr>
              <a:spcAft>
                <a:spcPts val="700"/>
              </a:spcAft>
              <a:defRPr sz="1800" b="0">
                <a:solidFill>
                  <a:srgbClr val="17344A"/>
                </a:solidFill>
                <a:latin typeface="Aptos"/>
              </a:defRPr>
            </a:pPr>
            <a:r>
              <a:t>Category CSV</a:t>
            </a:r>
          </a:p>
          <a:p>
            <a:pPr>
              <a:spcAft>
                <a:spcPts val="700"/>
              </a:spcAft>
              <a:defRPr sz="1800" b="0">
                <a:solidFill>
                  <a:srgbClr val="17344A"/>
                </a:solidFill>
                <a:latin typeface="Aptos"/>
              </a:defRPr>
            </a:pPr>
            <a:r>
              <a:t>Date + sales</a:t>
            </a:r>
          </a:p>
        </p:txBody>
      </p:sp>
      <p:sp>
        <p:nvSpPr>
          <p:cNvPr id="13" name="Rounded Rectangle 12"/>
          <p:cNvSpPr/>
          <p:nvPr/>
        </p:nvSpPr>
        <p:spPr>
          <a:xfrm>
            <a:off x="3456432" y="1965960"/>
            <a:ext cx="2359152" cy="203911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1" y="2212848"/>
            <a:ext cx="2103120" cy="640080"/>
          </a:xfrm>
          <a:prstGeom prst="rect">
            <a:avLst/>
          </a:prstGeom>
          <a:noFill/>
        </p:spPr>
        <p:txBody>
          <a:bodyPr wrap="square" lIns="0" rIns="0" tIns="0" bIns="0">
            <a:spAutoFit/>
          </a:bodyPr>
          <a:lstStyle/>
          <a:p>
            <a:pPr>
              <a:spcAft>
                <a:spcPts val="700"/>
              </a:spcAft>
              <a:defRPr sz="2300" b="1">
                <a:solidFill>
                  <a:srgbClr val="1678AD"/>
                </a:solidFill>
                <a:latin typeface="Aptos"/>
              </a:defRPr>
            </a:pPr>
            <a:r>
              <a:t>Build inputs</a:t>
            </a:r>
          </a:p>
        </p:txBody>
      </p:sp>
      <p:sp>
        <p:nvSpPr>
          <p:cNvPr id="15" name="TextBox 14"/>
          <p:cNvSpPr txBox="1"/>
          <p:nvPr/>
        </p:nvSpPr>
        <p:spPr>
          <a:xfrm>
            <a:off x="3593591" y="2999232"/>
            <a:ext cx="2103120" cy="868680"/>
          </a:xfrm>
          <a:prstGeom prst="rect">
            <a:avLst/>
          </a:prstGeom>
          <a:noFill/>
        </p:spPr>
        <p:txBody>
          <a:bodyPr wrap="square" lIns="0" rIns="0" tIns="0" bIns="0">
            <a:spAutoFit/>
          </a:bodyPr>
          <a:lstStyle/>
          <a:p>
            <a:pPr>
              <a:spcAft>
                <a:spcPts val="700"/>
              </a:spcAft>
              <a:defRPr sz="1800" b="0">
                <a:solidFill>
                  <a:srgbClr val="17344A"/>
                </a:solidFill>
                <a:latin typeface="Aptos"/>
              </a:defRPr>
            </a:pPr>
            <a:r>
              <a:t>5 lags / 10-step windows</a:t>
            </a:r>
          </a:p>
          <a:p>
            <a:pPr>
              <a:spcAft>
                <a:spcPts val="700"/>
              </a:spcAft>
              <a:defRPr sz="1800" b="0">
                <a:solidFill>
                  <a:srgbClr val="17344A"/>
                </a:solidFill>
                <a:latin typeface="Aptos"/>
              </a:defRPr>
            </a:pPr>
            <a:r>
              <a:t>or dated series</a:t>
            </a:r>
          </a:p>
        </p:txBody>
      </p:sp>
      <p:sp>
        <p:nvSpPr>
          <p:cNvPr id="16" name="Rounded Rectangle 15"/>
          <p:cNvSpPr/>
          <p:nvPr/>
        </p:nvSpPr>
        <p:spPr>
          <a:xfrm>
            <a:off x="6364224" y="1965960"/>
            <a:ext cx="2359152" cy="203911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1384" y="2212848"/>
            <a:ext cx="2103120" cy="640080"/>
          </a:xfrm>
          <a:prstGeom prst="rect">
            <a:avLst/>
          </a:prstGeom>
          <a:noFill/>
        </p:spPr>
        <p:txBody>
          <a:bodyPr wrap="square" lIns="0" rIns="0" tIns="0" bIns="0">
            <a:spAutoFit/>
          </a:bodyPr>
          <a:lstStyle/>
          <a:p>
            <a:pPr>
              <a:spcAft>
                <a:spcPts val="700"/>
              </a:spcAft>
              <a:defRPr sz="2300" b="1">
                <a:solidFill>
                  <a:srgbClr val="1678AD"/>
                </a:solidFill>
                <a:latin typeface="Aptos"/>
              </a:defRPr>
            </a:pPr>
            <a:r>
              <a:t>Train / load</a:t>
            </a:r>
          </a:p>
        </p:txBody>
      </p:sp>
      <p:sp>
        <p:nvSpPr>
          <p:cNvPr id="18" name="TextBox 17"/>
          <p:cNvSpPr txBox="1"/>
          <p:nvPr/>
        </p:nvSpPr>
        <p:spPr>
          <a:xfrm>
            <a:off x="6501384" y="2999232"/>
            <a:ext cx="2103120" cy="868680"/>
          </a:xfrm>
          <a:prstGeom prst="rect">
            <a:avLst/>
          </a:prstGeom>
          <a:noFill/>
        </p:spPr>
        <p:txBody>
          <a:bodyPr wrap="square" lIns="0" rIns="0" tIns="0" bIns="0">
            <a:spAutoFit/>
          </a:bodyPr>
          <a:lstStyle/>
          <a:p>
            <a:pPr>
              <a:spcAft>
                <a:spcPts val="700"/>
              </a:spcAft>
              <a:defRPr sz="1800" b="0">
                <a:solidFill>
                  <a:srgbClr val="17344A"/>
                </a:solidFill>
                <a:latin typeface="Aptos"/>
              </a:defRPr>
            </a:pPr>
            <a:r>
              <a:t>Model + scaler</a:t>
            </a:r>
          </a:p>
          <a:p>
            <a:pPr>
              <a:spcAft>
                <a:spcPts val="700"/>
              </a:spcAft>
              <a:defRPr sz="1800" b="0">
                <a:solidFill>
                  <a:srgbClr val="17344A"/>
                </a:solidFill>
                <a:latin typeface="Aptos"/>
              </a:defRPr>
            </a:pPr>
            <a:r>
              <a:t>Category-specific paths</a:t>
            </a:r>
          </a:p>
        </p:txBody>
      </p:sp>
      <p:sp>
        <p:nvSpPr>
          <p:cNvPr id="19" name="Rounded Rectangle 18"/>
          <p:cNvSpPr/>
          <p:nvPr/>
        </p:nvSpPr>
        <p:spPr>
          <a:xfrm>
            <a:off x="9272016" y="1965960"/>
            <a:ext cx="2359152" cy="203911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9176" y="2212848"/>
            <a:ext cx="2103120" cy="640080"/>
          </a:xfrm>
          <a:prstGeom prst="rect">
            <a:avLst/>
          </a:prstGeom>
          <a:noFill/>
        </p:spPr>
        <p:txBody>
          <a:bodyPr wrap="square" lIns="0" rIns="0" tIns="0" bIns="0">
            <a:spAutoFit/>
          </a:bodyPr>
          <a:lstStyle/>
          <a:p>
            <a:pPr>
              <a:spcAft>
                <a:spcPts val="700"/>
              </a:spcAft>
              <a:defRPr sz="2300" b="1">
                <a:solidFill>
                  <a:srgbClr val="1678AD"/>
                </a:solidFill>
                <a:latin typeface="Aptos"/>
              </a:defRPr>
            </a:pPr>
            <a:r>
              <a:t>Return output</a:t>
            </a:r>
          </a:p>
        </p:txBody>
      </p:sp>
      <p:sp>
        <p:nvSpPr>
          <p:cNvPr id="21" name="TextBox 20"/>
          <p:cNvSpPr txBox="1"/>
          <p:nvPr/>
        </p:nvSpPr>
        <p:spPr>
          <a:xfrm>
            <a:off x="9409176" y="2999232"/>
            <a:ext cx="2103120" cy="868680"/>
          </a:xfrm>
          <a:prstGeom prst="rect">
            <a:avLst/>
          </a:prstGeom>
          <a:noFill/>
        </p:spPr>
        <p:txBody>
          <a:bodyPr wrap="square" lIns="0" rIns="0" tIns="0" bIns="0">
            <a:spAutoFit/>
          </a:bodyPr>
          <a:lstStyle/>
          <a:p>
            <a:pPr>
              <a:spcAft>
                <a:spcPts val="700"/>
              </a:spcAft>
              <a:defRPr sz="1800" b="0">
                <a:solidFill>
                  <a:srgbClr val="17344A"/>
                </a:solidFill>
                <a:latin typeface="Aptos"/>
              </a:defRPr>
            </a:pPr>
            <a:r>
              <a:t>Sales-scale result</a:t>
            </a:r>
          </a:p>
          <a:p>
            <a:pPr>
              <a:spcAft>
                <a:spcPts val="700"/>
              </a:spcAft>
              <a:defRPr sz="1800" b="0">
                <a:solidFill>
                  <a:srgbClr val="17344A"/>
                </a:solidFill>
                <a:latin typeface="Aptos"/>
              </a:defRPr>
            </a:pPr>
            <a:r>
              <a:t>Plot + explanation</a:t>
            </a:r>
          </a:p>
        </p:txBody>
      </p:sp>
      <p:cxnSp>
        <p:nvCxnSpPr>
          <p:cNvPr id="22" name="Connector 21"/>
          <p:cNvCxnSpPr/>
          <p:nvPr/>
        </p:nvCxnSpPr>
        <p:spPr>
          <a:xfrm>
            <a:off x="2944368" y="2999232"/>
            <a:ext cx="420624" cy="0"/>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52160" y="2999232"/>
            <a:ext cx="420624" cy="0"/>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759952" y="2999232"/>
            <a:ext cx="420624" cy="0"/>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4498848"/>
            <a:ext cx="2743200" cy="365760"/>
          </a:xfrm>
          <a:prstGeom prst="rect">
            <a:avLst/>
          </a:prstGeom>
          <a:noFill/>
        </p:spPr>
        <p:txBody>
          <a:bodyPr wrap="square" lIns="0" rIns="0" tIns="0" bIns="0">
            <a:spAutoFit/>
          </a:bodyPr>
          <a:lstStyle/>
          <a:p>
            <a:pPr>
              <a:spcAft>
                <a:spcPts val="700"/>
              </a:spcAft>
              <a:defRPr sz="2200" b="1">
                <a:solidFill>
                  <a:srgbClr val="1678AD"/>
                </a:solidFill>
                <a:latin typeface="Aptos"/>
              </a:defRPr>
            </a:pPr>
            <a:r>
              <a:t>Lag input example</a:t>
            </a:r>
          </a:p>
        </p:txBody>
      </p:sp>
      <p:sp>
        <p:nvSpPr>
          <p:cNvPr id="26" name="TextBox 25"/>
          <p:cNvSpPr txBox="1"/>
          <p:nvPr/>
        </p:nvSpPr>
        <p:spPr>
          <a:xfrm>
            <a:off x="3474720" y="4480560"/>
            <a:ext cx="7772400" cy="548640"/>
          </a:xfrm>
          <a:prstGeom prst="rect">
            <a:avLst/>
          </a:prstGeom>
          <a:noFill/>
        </p:spPr>
        <p:txBody>
          <a:bodyPr wrap="square" lIns="0" rIns="0" tIns="0" bIns="0">
            <a:spAutoFit/>
          </a:bodyPr>
          <a:lstStyle/>
          <a:p>
            <a:pPr>
              <a:spcAft>
                <a:spcPts val="700"/>
              </a:spcAft>
              <a:defRPr sz="2500" b="1">
                <a:solidFill>
                  <a:srgbClr val="17344A"/>
                </a:solidFill>
                <a:latin typeface="Aptos"/>
              </a:defRPr>
            </a:pPr>
            <a:r>
              <a:t>[ y(t−1), y(t−2), y(t−3), y(t−4), y(t−5) ]  →  y(t)</a:t>
            </a:r>
          </a:p>
        </p:txBody>
      </p:sp>
      <p:sp>
        <p:nvSpPr>
          <p:cNvPr id="27" name="Rounded Rectangle 26"/>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Implementation detail: LightGBM currently retrains locally during forecasting for artifact compatibility.</a:t>
            </a:r>
          </a:p>
        </p:txBody>
      </p:sp>
    </p:spTree>
  </p:cSld>
  <p:clrMapOvr>
    <a:masterClrMapping/>
  </p:clrMapOvr>
  <p:transition advClick="1"/>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METHODOLOGY</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Statistical and machine learning methods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08</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src/evaluation/model_evaluation.py; src/models/{sarimax,prophet,xgboost,lightgbm}_model.py</a:t>
            </a:r>
          </a:p>
        </p:txBody>
      </p:sp>
      <p:sp>
        <p:nvSpPr>
          <p:cNvPr id="10" name="Rounded Rectangle 9"/>
          <p:cNvSpPr/>
          <p:nvPr/>
        </p:nvSpPr>
        <p:spPr>
          <a:xfrm>
            <a:off x="548640" y="1783080"/>
            <a:ext cx="5431536" cy="3456432"/>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47672"/>
            <a:ext cx="5029200"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Statistical models</a:t>
            </a:r>
          </a:p>
        </p:txBody>
      </p:sp>
      <p:sp>
        <p:nvSpPr>
          <p:cNvPr id="12" name="TextBox 11"/>
          <p:cNvSpPr txBox="1"/>
          <p:nvPr/>
        </p:nvSpPr>
        <p:spPr>
          <a:xfrm>
            <a:off x="749808" y="2578608"/>
            <a:ext cx="5029200" cy="2587752"/>
          </a:xfrm>
          <a:prstGeom prst="rect">
            <a:avLst/>
          </a:prstGeom>
          <a:noFill/>
        </p:spPr>
        <p:txBody>
          <a:bodyPr wrap="square" lIns="0" rIns="0" tIns="0" bIns="0">
            <a:spAutoFit/>
          </a:bodyPr>
          <a:lstStyle/>
          <a:p>
            <a:pPr>
              <a:spcAft>
                <a:spcPts val="700"/>
              </a:spcAft>
              <a:defRPr sz="2100" b="0">
                <a:solidFill>
                  <a:srgbClr val="17344A"/>
                </a:solidFill>
                <a:latin typeface="Aptos"/>
              </a:defRPr>
            </a:pPr>
            <a:r>
              <a:t>SARIMAX: autoregressive / seasonal structure</a:t>
            </a:r>
          </a:p>
          <a:p>
            <a:pPr>
              <a:spcAft>
                <a:spcPts val="700"/>
              </a:spcAft>
              <a:defRPr sz="2100" b="0">
                <a:solidFill>
                  <a:srgbClr val="17344A"/>
                </a:solidFill>
                <a:latin typeface="Aptos"/>
              </a:defRPr>
            </a:pPr>
            <a:r>
              <a:t>Evaluator: (1,0,0) × (1,0,0,7)</a:t>
            </a:r>
          </a:p>
          <a:p>
            <a:pPr>
              <a:spcAft>
                <a:spcPts val="700"/>
              </a:spcAft>
              <a:defRPr sz="2100" b="0">
                <a:solidFill>
                  <a:srgbClr val="17344A"/>
                </a:solidFill>
                <a:latin typeface="Aptos"/>
              </a:defRPr>
            </a:pPr>
            <a:r>
              <a:t>Prophet: dated trend and seasonality inputs</a:t>
            </a:r>
          </a:p>
        </p:txBody>
      </p:sp>
      <p:sp>
        <p:nvSpPr>
          <p:cNvPr id="13" name="Rounded Rectangle 12"/>
          <p:cNvSpPr/>
          <p:nvPr/>
        </p:nvSpPr>
        <p:spPr>
          <a:xfrm>
            <a:off x="6217920" y="1783080"/>
            <a:ext cx="5431536" cy="3456432"/>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947672"/>
            <a:ext cx="5029200"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Boosted-tree models</a:t>
            </a:r>
          </a:p>
        </p:txBody>
      </p:sp>
      <p:sp>
        <p:nvSpPr>
          <p:cNvPr id="15" name="TextBox 14"/>
          <p:cNvSpPr txBox="1"/>
          <p:nvPr/>
        </p:nvSpPr>
        <p:spPr>
          <a:xfrm>
            <a:off x="6419088" y="2578608"/>
            <a:ext cx="5029200" cy="2587752"/>
          </a:xfrm>
          <a:prstGeom prst="rect">
            <a:avLst/>
          </a:prstGeom>
          <a:noFill/>
        </p:spPr>
        <p:txBody>
          <a:bodyPr wrap="square" lIns="0" rIns="0" tIns="0" bIns="0">
            <a:spAutoFit/>
          </a:bodyPr>
          <a:lstStyle/>
          <a:p>
            <a:pPr>
              <a:spcAft>
                <a:spcPts val="700"/>
              </a:spcAft>
              <a:defRPr sz="2100" b="0">
                <a:solidFill>
                  <a:srgbClr val="17344A"/>
                </a:solidFill>
                <a:latin typeface="Aptos"/>
              </a:defRPr>
            </a:pPr>
            <a:r>
              <a:t>XGBoost: regression on 5 lag features</a:t>
            </a:r>
          </a:p>
          <a:p>
            <a:pPr>
              <a:spcAft>
                <a:spcPts val="700"/>
              </a:spcAft>
              <a:defRPr sz="2100" b="0">
                <a:solidFill>
                  <a:srgbClr val="17344A"/>
                </a:solidFill>
                <a:latin typeface="Aptos"/>
              </a:defRPr>
            </a:pPr>
            <a:r>
              <a:t>LightGBM: 5 normalised lag features</a:t>
            </a:r>
          </a:p>
          <a:p>
            <a:pPr>
              <a:spcAft>
                <a:spcPts val="700"/>
              </a:spcAft>
              <a:defRPr sz="2100" b="0">
                <a:solidFill>
                  <a:srgbClr val="17344A"/>
                </a:solidFill>
                <a:latin typeface="Aptos"/>
              </a:defRPr>
            </a:pPr>
            <a:r>
              <a:t>Current defaults: 31 leaves, 0.05 learning rate, 100 boosting rounds</a:t>
            </a:r>
          </a:p>
        </p:txBody>
      </p:sp>
      <p:sp>
        <p:nvSpPr>
          <p:cNvPr id="16" name="Rounded Rectangle 15"/>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Seasonal period 7 means seven observations in this weekly dataset; defaults are not tuned-run provenance.</a:t>
            </a:r>
          </a:p>
        </p:txBody>
      </p:sp>
    </p:spTree>
  </p:cSld>
  <p:clrMapOvr>
    <a:masterClrMapping/>
  </p:clrMapOvr>
  <p:transition advClick="1"/>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METHODOLOGY</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Deep learning uses sequences of past sales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09</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src/models/{lstm,gru,transformer,tft,nbeats,informer}_model.py; model_metrics.json</a:t>
            </a:r>
          </a:p>
        </p:txBody>
      </p:sp>
      <p:sp>
        <p:nvSpPr>
          <p:cNvPr id="10" name="Rounded Rectangle 9"/>
          <p:cNvSpPr/>
          <p:nvPr/>
        </p:nvSpPr>
        <p:spPr>
          <a:xfrm>
            <a:off x="548640" y="1783080"/>
            <a:ext cx="3538728" cy="3438144"/>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47672"/>
            <a:ext cx="3136392"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LSTM</a:t>
            </a:r>
          </a:p>
        </p:txBody>
      </p:sp>
      <p:sp>
        <p:nvSpPr>
          <p:cNvPr id="12" name="TextBox 11"/>
          <p:cNvSpPr txBox="1"/>
          <p:nvPr/>
        </p:nvSpPr>
        <p:spPr>
          <a:xfrm>
            <a:off x="749808" y="2578608"/>
            <a:ext cx="3136392" cy="2569463"/>
          </a:xfrm>
          <a:prstGeom prst="rect">
            <a:avLst/>
          </a:prstGeom>
          <a:noFill/>
        </p:spPr>
        <p:txBody>
          <a:bodyPr wrap="square" lIns="0" rIns="0" tIns="0" bIns="0">
            <a:spAutoFit/>
          </a:bodyPr>
          <a:lstStyle/>
          <a:p>
            <a:pPr>
              <a:spcAft>
                <a:spcPts val="700"/>
              </a:spcAft>
              <a:defRPr sz="2100" b="0">
                <a:solidFill>
                  <a:srgbClr val="17344A"/>
                </a:solidFill>
                <a:latin typeface="Aptos"/>
              </a:defRPr>
            </a:pPr>
            <a:r>
              <a:t>10-observation windows</a:t>
            </a:r>
          </a:p>
          <a:p>
            <a:pPr>
              <a:spcAft>
                <a:spcPts val="700"/>
              </a:spcAft>
              <a:defRPr sz="2100" b="0">
                <a:solidFill>
                  <a:srgbClr val="17344A"/>
                </a:solidFill>
                <a:latin typeface="Aptos"/>
              </a:defRPr>
            </a:pPr>
            <a:r>
              <a:t>2 recurrent layers</a:t>
            </a:r>
          </a:p>
          <a:p>
            <a:pPr>
              <a:spcAft>
                <a:spcPts val="700"/>
              </a:spcAft>
              <a:defRPr sz="2100" b="0">
                <a:solidFill>
                  <a:srgbClr val="17344A"/>
                </a:solidFill>
                <a:latin typeface="Aptos"/>
              </a:defRPr>
            </a:pPr>
            <a:r>
              <a:t>64 hidden units</a:t>
            </a:r>
          </a:p>
          <a:p>
            <a:pPr>
              <a:spcAft>
                <a:spcPts val="700"/>
              </a:spcAft>
              <a:defRPr sz="2100" b="0">
                <a:solidFill>
                  <a:srgbClr val="17344A"/>
                </a:solidFill>
                <a:latin typeface="Aptos"/>
              </a:defRPr>
            </a:pPr>
            <a:r>
              <a:t>Dropout: 0.1</a:t>
            </a:r>
          </a:p>
        </p:txBody>
      </p:sp>
      <p:sp>
        <p:nvSpPr>
          <p:cNvPr id="13" name="Rounded Rectangle 12"/>
          <p:cNvSpPr/>
          <p:nvPr/>
        </p:nvSpPr>
        <p:spPr>
          <a:xfrm>
            <a:off x="4325112" y="1783080"/>
            <a:ext cx="3538728" cy="3438144"/>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47672"/>
            <a:ext cx="3136392"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GRU</a:t>
            </a:r>
          </a:p>
        </p:txBody>
      </p:sp>
      <p:sp>
        <p:nvSpPr>
          <p:cNvPr id="15" name="TextBox 14"/>
          <p:cNvSpPr txBox="1"/>
          <p:nvPr/>
        </p:nvSpPr>
        <p:spPr>
          <a:xfrm>
            <a:off x="4526280" y="2578608"/>
            <a:ext cx="3136392" cy="2569463"/>
          </a:xfrm>
          <a:prstGeom prst="rect">
            <a:avLst/>
          </a:prstGeom>
          <a:noFill/>
        </p:spPr>
        <p:txBody>
          <a:bodyPr wrap="square" lIns="0" rIns="0" tIns="0" bIns="0">
            <a:spAutoFit/>
          </a:bodyPr>
          <a:lstStyle/>
          <a:p>
            <a:pPr>
              <a:spcAft>
                <a:spcPts val="700"/>
              </a:spcAft>
              <a:defRPr sz="2100" b="0">
                <a:solidFill>
                  <a:srgbClr val="17344A"/>
                </a:solidFill>
                <a:latin typeface="Aptos"/>
              </a:defRPr>
            </a:pPr>
            <a:r>
              <a:t>10-observation windows</a:t>
            </a:r>
          </a:p>
          <a:p>
            <a:pPr>
              <a:spcAft>
                <a:spcPts val="700"/>
              </a:spcAft>
              <a:defRPr sz="2100" b="0">
                <a:solidFill>
                  <a:srgbClr val="17344A"/>
                </a:solidFill>
                <a:latin typeface="Aptos"/>
              </a:defRPr>
            </a:pPr>
            <a:r>
              <a:t>2 recurrent layers</a:t>
            </a:r>
          </a:p>
          <a:p>
            <a:pPr>
              <a:spcAft>
                <a:spcPts val="700"/>
              </a:spcAft>
              <a:defRPr sz="2100" b="0">
                <a:solidFill>
                  <a:srgbClr val="17344A"/>
                </a:solidFill>
                <a:latin typeface="Aptos"/>
              </a:defRPr>
            </a:pPr>
            <a:r>
              <a:t>64 hidden units</a:t>
            </a:r>
          </a:p>
          <a:p>
            <a:pPr>
              <a:spcAft>
                <a:spcPts val="700"/>
              </a:spcAft>
              <a:defRPr sz="2100" b="0">
                <a:solidFill>
                  <a:srgbClr val="17344A"/>
                </a:solidFill>
                <a:latin typeface="Aptos"/>
              </a:defRPr>
            </a:pPr>
            <a:r>
              <a:t>Dropout: 0.1</a:t>
            </a:r>
          </a:p>
        </p:txBody>
      </p:sp>
      <p:sp>
        <p:nvSpPr>
          <p:cNvPr id="16" name="Rounded Rectangle 15"/>
          <p:cNvSpPr/>
          <p:nvPr/>
        </p:nvSpPr>
        <p:spPr>
          <a:xfrm>
            <a:off x="8110727" y="1783080"/>
            <a:ext cx="3538728" cy="3438144"/>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1947672"/>
            <a:ext cx="3136392"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Transformer</a:t>
            </a:r>
          </a:p>
        </p:txBody>
      </p:sp>
      <p:sp>
        <p:nvSpPr>
          <p:cNvPr id="18" name="TextBox 17"/>
          <p:cNvSpPr txBox="1"/>
          <p:nvPr/>
        </p:nvSpPr>
        <p:spPr>
          <a:xfrm>
            <a:off x="8311896" y="2578608"/>
            <a:ext cx="3136392" cy="2569463"/>
          </a:xfrm>
          <a:prstGeom prst="rect">
            <a:avLst/>
          </a:prstGeom>
          <a:noFill/>
        </p:spPr>
        <p:txBody>
          <a:bodyPr wrap="square" lIns="0" rIns="0" tIns="0" bIns="0">
            <a:spAutoFit/>
          </a:bodyPr>
          <a:lstStyle/>
          <a:p>
            <a:pPr>
              <a:spcAft>
                <a:spcPts val="700"/>
              </a:spcAft>
              <a:defRPr sz="2100" b="0">
                <a:solidFill>
                  <a:srgbClr val="17344A"/>
                </a:solidFill>
                <a:latin typeface="Aptos"/>
              </a:defRPr>
            </a:pPr>
            <a:r>
              <a:t>10-observation windows</a:t>
            </a:r>
          </a:p>
          <a:p>
            <a:pPr>
              <a:spcAft>
                <a:spcPts val="700"/>
              </a:spcAft>
              <a:defRPr sz="2100" b="0">
                <a:solidFill>
                  <a:srgbClr val="17344A"/>
                </a:solidFill>
                <a:latin typeface="Aptos"/>
              </a:defRPr>
            </a:pPr>
            <a:r>
              <a:t>Model dimension: 64</a:t>
            </a:r>
          </a:p>
          <a:p>
            <a:pPr>
              <a:spcAft>
                <a:spcPts val="700"/>
              </a:spcAft>
              <a:defRPr sz="2100" b="0">
                <a:solidFill>
                  <a:srgbClr val="17344A"/>
                </a:solidFill>
                <a:latin typeface="Aptos"/>
              </a:defRPr>
            </a:pPr>
            <a:r>
              <a:t>4 attention heads</a:t>
            </a:r>
          </a:p>
          <a:p>
            <a:pPr>
              <a:spcAft>
                <a:spcPts val="700"/>
              </a:spcAft>
              <a:defRPr sz="2100" b="0">
                <a:solidFill>
                  <a:srgbClr val="17344A"/>
                </a:solidFill>
                <a:latin typeface="Aptos"/>
              </a:defRPr>
            </a:pPr>
            <a:r>
              <a:t>2 encoder layers</a:t>
            </a:r>
          </a:p>
        </p:txBody>
      </p:sp>
      <p:sp>
        <p:nvSpPr>
          <p:cNvPr id="19" name="Rounded Rectangle 18"/>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TFT, N-BEATS and Informer are additional implementations; no comparable saved benchmark is reported.</a:t>
            </a:r>
          </a:p>
        </p:txBody>
      </p:sp>
    </p:spTree>
  </p:cSld>
  <p:clrMapOvr>
    <a:masterClrMapping/>
  </p:clrMapOvr>
  <p:transition advClick="1"/>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NEW STACKING EXPERIMENT</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Stacking now has measured forecasting results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10</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src/evaluation_results/stacking_results.json; src/models/stacking_model.py; new run, 13 Sep 2026</a:t>
            </a:r>
          </a:p>
        </p:txBody>
      </p:sp>
      <p:sp>
        <p:nvSpPr>
          <p:cNvPr id="10" name="Rectangle 9"/>
          <p:cNvSpPr/>
          <p:nvPr/>
        </p:nvSpPr>
        <p:spPr>
          <a:xfrm>
            <a:off x="594360" y="1737360"/>
            <a:ext cx="548640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828800"/>
            <a:ext cx="5276088" cy="356616"/>
          </a:xfrm>
          <a:prstGeom prst="rect">
            <a:avLst/>
          </a:prstGeom>
          <a:noFill/>
        </p:spPr>
        <p:txBody>
          <a:bodyPr wrap="square" lIns="0" rIns="0" tIns="0" bIns="0">
            <a:spAutoFit/>
          </a:bodyPr>
          <a:lstStyle/>
          <a:p>
            <a:pPr>
              <a:spcAft>
                <a:spcPts val="700"/>
              </a:spcAft>
              <a:defRPr sz="1900" b="1">
                <a:solidFill>
                  <a:srgbClr val="FFFFFF"/>
                </a:solidFill>
                <a:latin typeface="Aptos"/>
              </a:defRPr>
            </a:pPr>
            <a:r>
              <a:t>Method in the new experiment</a:t>
            </a:r>
          </a:p>
        </p:txBody>
      </p:sp>
      <p:sp>
        <p:nvSpPr>
          <p:cNvPr id="12" name="Rectangle 11"/>
          <p:cNvSpPr/>
          <p:nvPr/>
        </p:nvSpPr>
        <p:spPr>
          <a:xfrm>
            <a:off x="6080760" y="1737360"/>
            <a:ext cx="274320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1828800"/>
            <a:ext cx="2532888" cy="356616"/>
          </a:xfrm>
          <a:prstGeom prst="rect">
            <a:avLst/>
          </a:prstGeom>
          <a:noFill/>
        </p:spPr>
        <p:txBody>
          <a:bodyPr wrap="square" lIns="0" rIns="0" tIns="0" bIns="0">
            <a:spAutoFit/>
          </a:bodyPr>
          <a:lstStyle/>
          <a:p>
            <a:pPr>
              <a:spcAft>
                <a:spcPts val="700"/>
              </a:spcAft>
              <a:defRPr sz="1900" b="1">
                <a:solidFill>
                  <a:srgbClr val="FFFFFF"/>
                </a:solidFill>
                <a:latin typeface="Aptos"/>
              </a:defRPr>
            </a:pPr>
            <a:r>
              <a:t>Mean MAE</a:t>
            </a:r>
          </a:p>
        </p:txBody>
      </p:sp>
      <p:sp>
        <p:nvSpPr>
          <p:cNvPr id="14" name="Rectangle 13"/>
          <p:cNvSpPr/>
          <p:nvPr/>
        </p:nvSpPr>
        <p:spPr>
          <a:xfrm>
            <a:off x="8823960" y="1737360"/>
            <a:ext cx="274320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33688" y="1828800"/>
            <a:ext cx="2532888" cy="356616"/>
          </a:xfrm>
          <a:prstGeom prst="rect">
            <a:avLst/>
          </a:prstGeom>
          <a:noFill/>
        </p:spPr>
        <p:txBody>
          <a:bodyPr wrap="square" lIns="0" rIns="0" tIns="0" bIns="0">
            <a:spAutoFit/>
          </a:bodyPr>
          <a:lstStyle/>
          <a:p>
            <a:pPr>
              <a:spcAft>
                <a:spcPts val="700"/>
              </a:spcAft>
              <a:defRPr sz="1900" b="1">
                <a:solidFill>
                  <a:srgbClr val="FFFFFF"/>
                </a:solidFill>
                <a:latin typeface="Aptos"/>
              </a:defRPr>
            </a:pPr>
            <a:r>
              <a:t>Mean RMSE</a:t>
            </a:r>
          </a:p>
        </p:txBody>
      </p:sp>
      <p:sp>
        <p:nvSpPr>
          <p:cNvPr id="16" name="Rectangle 15"/>
          <p:cNvSpPr/>
          <p:nvPr/>
        </p:nvSpPr>
        <p:spPr>
          <a:xfrm>
            <a:off x="594360" y="2185415"/>
            <a:ext cx="54864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276856"/>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Stacking / Ridge</a:t>
            </a:r>
          </a:p>
        </p:txBody>
      </p:sp>
      <p:sp>
        <p:nvSpPr>
          <p:cNvPr id="18" name="Rectangle 17"/>
          <p:cNvSpPr/>
          <p:nvPr/>
        </p:nvSpPr>
        <p:spPr>
          <a:xfrm>
            <a:off x="6080760" y="2185415"/>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0488" y="2276856"/>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30.2059</a:t>
            </a:r>
          </a:p>
        </p:txBody>
      </p:sp>
      <p:sp>
        <p:nvSpPr>
          <p:cNvPr id="20" name="Rectangle 19"/>
          <p:cNvSpPr/>
          <p:nvPr/>
        </p:nvSpPr>
        <p:spPr>
          <a:xfrm>
            <a:off x="8823960" y="2185415"/>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33688" y="2276856"/>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36.0614</a:t>
            </a:r>
          </a:p>
        </p:txBody>
      </p:sp>
      <p:sp>
        <p:nvSpPr>
          <p:cNvPr id="22" name="Rectangle 21"/>
          <p:cNvSpPr/>
          <p:nvPr/>
        </p:nvSpPr>
        <p:spPr>
          <a:xfrm>
            <a:off x="594360" y="2633472"/>
            <a:ext cx="54864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2724912"/>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Equal average</a:t>
            </a:r>
          </a:p>
        </p:txBody>
      </p:sp>
      <p:sp>
        <p:nvSpPr>
          <p:cNvPr id="24" name="Rectangle 23"/>
          <p:cNvSpPr/>
          <p:nvPr/>
        </p:nvSpPr>
        <p:spPr>
          <a:xfrm>
            <a:off x="6080760" y="2633472"/>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2724912"/>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24.2382</a:t>
            </a:r>
          </a:p>
        </p:txBody>
      </p:sp>
      <p:sp>
        <p:nvSpPr>
          <p:cNvPr id="26" name="Rectangle 25"/>
          <p:cNvSpPr/>
          <p:nvPr/>
        </p:nvSpPr>
        <p:spPr>
          <a:xfrm>
            <a:off x="8823960" y="2633472"/>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33688" y="2724912"/>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29.4752</a:t>
            </a:r>
          </a:p>
        </p:txBody>
      </p:sp>
      <p:sp>
        <p:nvSpPr>
          <p:cNvPr id="28" name="Rectangle 27"/>
          <p:cNvSpPr/>
          <p:nvPr/>
        </p:nvSpPr>
        <p:spPr>
          <a:xfrm>
            <a:off x="594360" y="3081528"/>
            <a:ext cx="54864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3172968"/>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XGBoost</a:t>
            </a:r>
          </a:p>
        </p:txBody>
      </p:sp>
      <p:sp>
        <p:nvSpPr>
          <p:cNvPr id="30" name="Rectangle 29"/>
          <p:cNvSpPr/>
          <p:nvPr/>
        </p:nvSpPr>
        <p:spPr>
          <a:xfrm>
            <a:off x="6080760" y="3081528"/>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0488" y="3172968"/>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24.7716</a:t>
            </a:r>
          </a:p>
        </p:txBody>
      </p:sp>
      <p:sp>
        <p:nvSpPr>
          <p:cNvPr id="32" name="Rectangle 31"/>
          <p:cNvSpPr/>
          <p:nvPr/>
        </p:nvSpPr>
        <p:spPr>
          <a:xfrm>
            <a:off x="8823960" y="3081528"/>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33688" y="3172968"/>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30.4166</a:t>
            </a:r>
          </a:p>
        </p:txBody>
      </p:sp>
      <p:sp>
        <p:nvSpPr>
          <p:cNvPr id="34" name="Rectangle 33"/>
          <p:cNvSpPr/>
          <p:nvPr/>
        </p:nvSpPr>
        <p:spPr>
          <a:xfrm>
            <a:off x="594360" y="3529584"/>
            <a:ext cx="54864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621024"/>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LSTM</a:t>
            </a:r>
          </a:p>
        </p:txBody>
      </p:sp>
      <p:sp>
        <p:nvSpPr>
          <p:cNvPr id="36" name="Rectangle 35"/>
          <p:cNvSpPr/>
          <p:nvPr/>
        </p:nvSpPr>
        <p:spPr>
          <a:xfrm>
            <a:off x="6080760" y="3529584"/>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0488" y="3621024"/>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26.4038</a:t>
            </a:r>
          </a:p>
        </p:txBody>
      </p:sp>
      <p:sp>
        <p:nvSpPr>
          <p:cNvPr id="38" name="Rectangle 37"/>
          <p:cNvSpPr/>
          <p:nvPr/>
        </p:nvSpPr>
        <p:spPr>
          <a:xfrm>
            <a:off x="8823960" y="3529584"/>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33688" y="3621024"/>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32.9673</a:t>
            </a:r>
          </a:p>
        </p:txBody>
      </p:sp>
      <p:sp>
        <p:nvSpPr>
          <p:cNvPr id="40" name="Rectangle 39"/>
          <p:cNvSpPr/>
          <p:nvPr/>
        </p:nvSpPr>
        <p:spPr>
          <a:xfrm>
            <a:off x="594360" y="3977640"/>
            <a:ext cx="54864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4069080"/>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GRU</a:t>
            </a:r>
          </a:p>
        </p:txBody>
      </p:sp>
      <p:sp>
        <p:nvSpPr>
          <p:cNvPr id="42" name="Rectangle 41"/>
          <p:cNvSpPr/>
          <p:nvPr/>
        </p:nvSpPr>
        <p:spPr>
          <a:xfrm>
            <a:off x="6080760" y="3977640"/>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90488" y="4069080"/>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25.7002</a:t>
            </a:r>
          </a:p>
        </p:txBody>
      </p:sp>
      <p:sp>
        <p:nvSpPr>
          <p:cNvPr id="44" name="Rectangle 43"/>
          <p:cNvSpPr/>
          <p:nvPr/>
        </p:nvSpPr>
        <p:spPr>
          <a:xfrm>
            <a:off x="8823960" y="3977640"/>
            <a:ext cx="274320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33688" y="4069080"/>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30.6456</a:t>
            </a:r>
          </a:p>
        </p:txBody>
      </p:sp>
      <p:sp>
        <p:nvSpPr>
          <p:cNvPr id="46" name="Rectangle 45"/>
          <p:cNvSpPr/>
          <p:nvPr/>
        </p:nvSpPr>
        <p:spPr>
          <a:xfrm>
            <a:off x="594360" y="4425696"/>
            <a:ext cx="54864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4517136"/>
            <a:ext cx="52760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Last-value baseline</a:t>
            </a:r>
          </a:p>
        </p:txBody>
      </p:sp>
      <p:sp>
        <p:nvSpPr>
          <p:cNvPr id="48" name="Rectangle 47"/>
          <p:cNvSpPr/>
          <p:nvPr/>
        </p:nvSpPr>
        <p:spPr>
          <a:xfrm>
            <a:off x="6080760" y="4425696"/>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90488" y="4517136"/>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35.0069</a:t>
            </a:r>
          </a:p>
        </p:txBody>
      </p:sp>
      <p:sp>
        <p:nvSpPr>
          <p:cNvPr id="50" name="Rectangle 49"/>
          <p:cNvSpPr/>
          <p:nvPr/>
        </p:nvSpPr>
        <p:spPr>
          <a:xfrm>
            <a:off x="8823960" y="4425696"/>
            <a:ext cx="274320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933688" y="4517136"/>
            <a:ext cx="2532888" cy="356616"/>
          </a:xfrm>
          <a:prstGeom prst="rect">
            <a:avLst/>
          </a:prstGeom>
          <a:noFill/>
        </p:spPr>
        <p:txBody>
          <a:bodyPr wrap="square" lIns="0" rIns="0" tIns="0" bIns="0">
            <a:spAutoFit/>
          </a:bodyPr>
          <a:lstStyle/>
          <a:p>
            <a:pPr>
              <a:spcAft>
                <a:spcPts val="700"/>
              </a:spcAft>
              <a:defRPr sz="1900" b="0">
                <a:solidFill>
                  <a:srgbClr val="17344A"/>
                </a:solidFill>
                <a:latin typeface="Aptos"/>
              </a:defRPr>
            </a:pPr>
            <a:r>
              <a:t>40.7899</a:t>
            </a:r>
          </a:p>
        </p:txBody>
      </p:sp>
      <p:sp>
        <p:nvSpPr>
          <p:cNvPr id="52" name="TextBox 51"/>
          <p:cNvSpPr txBox="1"/>
          <p:nvPr/>
        </p:nvSpPr>
        <p:spPr>
          <a:xfrm>
            <a:off x="731520" y="5212080"/>
            <a:ext cx="10789920" cy="457200"/>
          </a:xfrm>
          <a:prstGeom prst="rect">
            <a:avLst/>
          </a:prstGeom>
          <a:noFill/>
        </p:spPr>
        <p:txBody>
          <a:bodyPr wrap="square" lIns="0" rIns="0" tIns="0" bIns="0">
            <a:spAutoFit/>
          </a:bodyPr>
          <a:lstStyle/>
          <a:p>
            <a:pPr>
              <a:spcAft>
                <a:spcPts val="700"/>
              </a:spcAft>
              <a:defRPr sz="2000" b="1">
                <a:solidFill>
                  <a:srgbClr val="1678AD"/>
                </a:solidFill>
                <a:latin typeface="Aptos"/>
              </a:defRPr>
            </a:pPr>
            <a:r>
              <a:t>XGBoost + LSTM + GRU forecasts  →  Ridge combiner  →  one result per future week</a:t>
            </a:r>
          </a:p>
        </p:txBody>
      </p:sp>
      <p:sp>
        <p:nvSpPr>
          <p:cNvPr id="53" name="Rounded Rectangle 52"/>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New, separate chronological test: stacking beats the naive baseline, but not simple averaging.</a:t>
            </a:r>
          </a:p>
        </p:txBody>
      </p:sp>
    </p:spTree>
  </p:cSld>
  <p:clrMapOvr>
    <a:masterClrMapping/>
  </p:clrMapOvr>
  <p:transition advClick="1"/>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IMPLEMENTATION</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A modular application connects users and models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11</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services/; apps/api_gateway/main.py; infra/docker/; infra/kubernetes/</a:t>
            </a:r>
          </a:p>
        </p:txBody>
      </p:sp>
      <p:sp>
        <p:nvSpPr>
          <p:cNvPr id="10" name="Rounded Rectangle 9"/>
          <p:cNvSpPr/>
          <p:nvPr/>
        </p:nvSpPr>
        <p:spPr>
          <a:xfrm>
            <a:off x="4279392" y="1719072"/>
            <a:ext cx="3657600" cy="62179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0832" y="1901952"/>
            <a:ext cx="3474720" cy="320040"/>
          </a:xfrm>
          <a:prstGeom prst="rect">
            <a:avLst/>
          </a:prstGeom>
          <a:noFill/>
        </p:spPr>
        <p:txBody>
          <a:bodyPr wrap="square" lIns="0" rIns="0" tIns="0" bIns="0">
            <a:spAutoFit/>
          </a:bodyPr>
          <a:lstStyle/>
          <a:p>
            <a:pPr algn="ctr">
              <a:spcAft>
                <a:spcPts val="700"/>
              </a:spcAft>
              <a:defRPr sz="1400" b="1">
                <a:solidFill>
                  <a:srgbClr val="1678AD"/>
                </a:solidFill>
                <a:latin typeface="Aptos"/>
              </a:defRPr>
            </a:pPr>
            <a:r>
              <a:t>Web UI • FastAPI / Jinja / JavaScript</a:t>
            </a:r>
          </a:p>
        </p:txBody>
      </p:sp>
      <p:cxnSp>
        <p:nvCxnSpPr>
          <p:cNvPr id="12" name="Connector 11"/>
          <p:cNvCxnSpPr/>
          <p:nvPr/>
        </p:nvCxnSpPr>
        <p:spPr>
          <a:xfrm>
            <a:off x="6108192" y="2359152"/>
            <a:ext cx="0" cy="301752"/>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79392" y="2706624"/>
            <a:ext cx="3657600" cy="594360"/>
          </a:xfrm>
          <a:prstGeom prst="roundRect">
            <a:avLst>
              <a:gd name="adj" fmla="val 12000"/>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2852928"/>
            <a:ext cx="3246120" cy="320040"/>
          </a:xfrm>
          <a:prstGeom prst="rect">
            <a:avLst/>
          </a:prstGeom>
          <a:noFill/>
        </p:spPr>
        <p:txBody>
          <a:bodyPr wrap="square" lIns="0" rIns="0" tIns="0" bIns="0">
            <a:spAutoFit/>
          </a:bodyPr>
          <a:lstStyle/>
          <a:p>
            <a:pPr algn="ctr">
              <a:spcAft>
                <a:spcPts val="700"/>
              </a:spcAft>
              <a:defRPr sz="2200" b="1">
                <a:solidFill>
                  <a:srgbClr val="FFFFFF"/>
                </a:solidFill>
                <a:latin typeface="Aptos"/>
              </a:defRPr>
            </a:pPr>
            <a:r>
              <a:t>API gateway</a:t>
            </a:r>
          </a:p>
        </p:txBody>
      </p:sp>
      <p:cxnSp>
        <p:nvCxnSpPr>
          <p:cNvPr id="15" name="Connector 14"/>
          <p:cNvCxnSpPr/>
          <p:nvPr/>
        </p:nvCxnSpPr>
        <p:spPr>
          <a:xfrm flipH="1">
            <a:off x="1755648" y="3337560"/>
            <a:ext cx="4352544" cy="338327"/>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94360" y="3730752"/>
            <a:ext cx="2313432" cy="109728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95344"/>
            <a:ext cx="2130552" cy="384048"/>
          </a:xfrm>
          <a:prstGeom prst="rect">
            <a:avLst/>
          </a:prstGeom>
          <a:noFill/>
        </p:spPr>
        <p:txBody>
          <a:bodyPr wrap="square" lIns="0" rIns="0" tIns="0" bIns="0">
            <a:spAutoFit/>
          </a:bodyPr>
          <a:lstStyle/>
          <a:p>
            <a:pPr algn="ctr">
              <a:spcAft>
                <a:spcPts val="700"/>
              </a:spcAft>
              <a:defRPr sz="2100" b="1">
                <a:solidFill>
                  <a:srgbClr val="1678AD"/>
                </a:solidFill>
                <a:latin typeface="Aptos"/>
              </a:defRPr>
            </a:pPr>
            <a:r>
              <a:t>Forecast</a:t>
            </a:r>
          </a:p>
        </p:txBody>
      </p:sp>
      <p:sp>
        <p:nvSpPr>
          <p:cNvPr id="18" name="TextBox 17"/>
          <p:cNvSpPr txBox="1"/>
          <p:nvPr/>
        </p:nvSpPr>
        <p:spPr>
          <a:xfrm>
            <a:off x="667512" y="4443984"/>
            <a:ext cx="2167128" cy="274320"/>
          </a:xfrm>
          <a:prstGeom prst="rect">
            <a:avLst/>
          </a:prstGeom>
          <a:noFill/>
        </p:spPr>
        <p:txBody>
          <a:bodyPr wrap="square" lIns="0" rIns="0" tIns="0" bIns="0">
            <a:spAutoFit/>
          </a:bodyPr>
          <a:lstStyle/>
          <a:p>
            <a:pPr algn="ctr">
              <a:spcAft>
                <a:spcPts val="700"/>
              </a:spcAft>
              <a:defRPr sz="1400" b="0">
                <a:solidFill>
                  <a:srgbClr val="17344A"/>
                </a:solidFill>
                <a:latin typeface="Aptos"/>
              </a:defRPr>
            </a:pPr>
            <a:r>
              <a:t>Prediction + plots</a:t>
            </a:r>
          </a:p>
        </p:txBody>
      </p:sp>
      <p:cxnSp>
        <p:nvCxnSpPr>
          <p:cNvPr id="19" name="Connector 18"/>
          <p:cNvCxnSpPr/>
          <p:nvPr/>
        </p:nvCxnSpPr>
        <p:spPr>
          <a:xfrm flipH="1">
            <a:off x="4654296" y="3337560"/>
            <a:ext cx="1453896" cy="338327"/>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493008" y="3730752"/>
            <a:ext cx="2313432" cy="109728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4448" y="3895344"/>
            <a:ext cx="2130552" cy="384048"/>
          </a:xfrm>
          <a:prstGeom prst="rect">
            <a:avLst/>
          </a:prstGeom>
          <a:noFill/>
        </p:spPr>
        <p:txBody>
          <a:bodyPr wrap="square" lIns="0" rIns="0" tIns="0" bIns="0">
            <a:spAutoFit/>
          </a:bodyPr>
          <a:lstStyle/>
          <a:p>
            <a:pPr algn="ctr">
              <a:spcAft>
                <a:spcPts val="700"/>
              </a:spcAft>
              <a:defRPr sz="2100" b="1">
                <a:solidFill>
                  <a:srgbClr val="1678AD"/>
                </a:solidFill>
                <a:latin typeface="Aptos"/>
              </a:defRPr>
            </a:pPr>
            <a:r>
              <a:t>Training</a:t>
            </a:r>
          </a:p>
        </p:txBody>
      </p:sp>
      <p:sp>
        <p:nvSpPr>
          <p:cNvPr id="22" name="TextBox 21"/>
          <p:cNvSpPr txBox="1"/>
          <p:nvPr/>
        </p:nvSpPr>
        <p:spPr>
          <a:xfrm>
            <a:off x="3566160" y="4443984"/>
            <a:ext cx="2167128" cy="274320"/>
          </a:xfrm>
          <a:prstGeom prst="rect">
            <a:avLst/>
          </a:prstGeom>
          <a:noFill/>
        </p:spPr>
        <p:txBody>
          <a:bodyPr wrap="square" lIns="0" rIns="0" tIns="0" bIns="0">
            <a:spAutoFit/>
          </a:bodyPr>
          <a:lstStyle/>
          <a:p>
            <a:pPr algn="ctr">
              <a:spcAft>
                <a:spcPts val="700"/>
              </a:spcAft>
              <a:defRPr sz="1400" b="0">
                <a:solidFill>
                  <a:srgbClr val="17344A"/>
                </a:solidFill>
                <a:latin typeface="Aptos"/>
              </a:defRPr>
            </a:pPr>
            <a:r>
              <a:t>Model / scaler artifacts</a:t>
            </a:r>
          </a:p>
        </p:txBody>
      </p:sp>
      <p:cxnSp>
        <p:nvCxnSpPr>
          <p:cNvPr id="23" name="Connector 22"/>
          <p:cNvCxnSpPr/>
          <p:nvPr/>
        </p:nvCxnSpPr>
        <p:spPr>
          <a:xfrm>
            <a:off x="6108192" y="3337560"/>
            <a:ext cx="1444752" cy="338327"/>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91656" y="3730752"/>
            <a:ext cx="2313432" cy="109728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3895344"/>
            <a:ext cx="2130552" cy="384048"/>
          </a:xfrm>
          <a:prstGeom prst="rect">
            <a:avLst/>
          </a:prstGeom>
          <a:noFill/>
        </p:spPr>
        <p:txBody>
          <a:bodyPr wrap="square" lIns="0" rIns="0" tIns="0" bIns="0">
            <a:spAutoFit/>
          </a:bodyPr>
          <a:lstStyle/>
          <a:p>
            <a:pPr algn="ctr">
              <a:spcAft>
                <a:spcPts val="700"/>
              </a:spcAft>
              <a:defRPr sz="2100" b="1">
                <a:solidFill>
                  <a:srgbClr val="1678AD"/>
                </a:solidFill>
                <a:latin typeface="Aptos"/>
              </a:defRPr>
            </a:pPr>
            <a:r>
              <a:t>Explainability</a:t>
            </a:r>
          </a:p>
        </p:txBody>
      </p:sp>
      <p:sp>
        <p:nvSpPr>
          <p:cNvPr id="26" name="TextBox 25"/>
          <p:cNvSpPr txBox="1"/>
          <p:nvPr/>
        </p:nvSpPr>
        <p:spPr>
          <a:xfrm>
            <a:off x="6464808" y="4443984"/>
            <a:ext cx="2167128" cy="274320"/>
          </a:xfrm>
          <a:prstGeom prst="rect">
            <a:avLst/>
          </a:prstGeom>
          <a:noFill/>
        </p:spPr>
        <p:txBody>
          <a:bodyPr wrap="square" lIns="0" rIns="0" tIns="0" bIns="0">
            <a:spAutoFit/>
          </a:bodyPr>
          <a:lstStyle/>
          <a:p>
            <a:pPr algn="ctr">
              <a:spcAft>
                <a:spcPts val="700"/>
              </a:spcAft>
              <a:defRPr sz="1400" b="0">
                <a:solidFill>
                  <a:srgbClr val="17344A"/>
                </a:solidFill>
                <a:latin typeface="Aptos"/>
              </a:defRPr>
            </a:pPr>
            <a:r>
              <a:t>SHAP / fallback</a:t>
            </a:r>
          </a:p>
        </p:txBody>
      </p:sp>
      <p:cxnSp>
        <p:nvCxnSpPr>
          <p:cNvPr id="27" name="Connector 26"/>
          <p:cNvCxnSpPr/>
          <p:nvPr/>
        </p:nvCxnSpPr>
        <p:spPr>
          <a:xfrm>
            <a:off x="6108192" y="3337560"/>
            <a:ext cx="4343400" cy="338327"/>
          </a:xfrm>
          <a:prstGeom prst="line">
            <a:avLst/>
          </a:prstGeom>
          <a:ln w="25400">
            <a:solidFill>
              <a:srgbClr val="1678AD"/>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290304" y="3730752"/>
            <a:ext cx="2313432" cy="109728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81744" y="3895344"/>
            <a:ext cx="2130552" cy="384048"/>
          </a:xfrm>
          <a:prstGeom prst="rect">
            <a:avLst/>
          </a:prstGeom>
          <a:noFill/>
        </p:spPr>
        <p:txBody>
          <a:bodyPr wrap="square" lIns="0" rIns="0" tIns="0" bIns="0">
            <a:spAutoFit/>
          </a:bodyPr>
          <a:lstStyle/>
          <a:p>
            <a:pPr algn="ctr">
              <a:spcAft>
                <a:spcPts val="700"/>
              </a:spcAft>
              <a:defRPr sz="2100" b="1">
                <a:solidFill>
                  <a:srgbClr val="1678AD"/>
                </a:solidFill>
                <a:latin typeface="Aptos"/>
              </a:defRPr>
            </a:pPr>
            <a:r>
              <a:t>Advanced AI</a:t>
            </a:r>
          </a:p>
        </p:txBody>
      </p:sp>
      <p:sp>
        <p:nvSpPr>
          <p:cNvPr id="30" name="TextBox 29"/>
          <p:cNvSpPr txBox="1"/>
          <p:nvPr/>
        </p:nvSpPr>
        <p:spPr>
          <a:xfrm>
            <a:off x="9363456" y="4443984"/>
            <a:ext cx="2167128" cy="274320"/>
          </a:xfrm>
          <a:prstGeom prst="rect">
            <a:avLst/>
          </a:prstGeom>
          <a:noFill/>
        </p:spPr>
        <p:txBody>
          <a:bodyPr wrap="square" lIns="0" rIns="0" tIns="0" bIns="0">
            <a:spAutoFit/>
          </a:bodyPr>
          <a:lstStyle/>
          <a:p>
            <a:pPr algn="ctr">
              <a:spcAft>
                <a:spcPts val="700"/>
              </a:spcAft>
              <a:defRPr sz="1400" b="0">
                <a:solidFill>
                  <a:srgbClr val="17344A"/>
                </a:solidFill>
                <a:latin typeface="Aptos"/>
              </a:defRPr>
            </a:pPr>
            <a:r>
              <a:t>Experimental modules</a:t>
            </a:r>
          </a:p>
        </p:txBody>
      </p:sp>
      <p:sp>
        <p:nvSpPr>
          <p:cNvPr id="31" name="Rounded Rectangle 30"/>
          <p:cNvSpPr/>
          <p:nvPr/>
        </p:nvSpPr>
        <p:spPr>
          <a:xfrm>
            <a:off x="2560320" y="5093208"/>
            <a:ext cx="7086600" cy="42976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61488" y="5193792"/>
            <a:ext cx="6675120" cy="246888"/>
          </a:xfrm>
          <a:prstGeom prst="rect">
            <a:avLst/>
          </a:prstGeom>
          <a:noFill/>
        </p:spPr>
        <p:txBody>
          <a:bodyPr wrap="square" lIns="0" rIns="0" tIns="0" bIns="0">
            <a:spAutoFit/>
          </a:bodyPr>
          <a:lstStyle/>
          <a:p>
            <a:pPr algn="ctr">
              <a:spcAft>
                <a:spcPts val="700"/>
              </a:spcAft>
              <a:defRPr sz="1700" b="1">
                <a:solidFill>
                  <a:srgbClr val="17344A"/>
                </a:solidFill>
                <a:latin typeface="Aptos"/>
              </a:defRPr>
            </a:pPr>
            <a:r>
              <a:t>Shared CSV data • trained model files • scalers • result artifacts</a:t>
            </a:r>
          </a:p>
        </p:txBody>
      </p:sp>
      <p:sp>
        <p:nvSpPr>
          <p:cNvPr id="33" name="Rounded Rectangle 32"/>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Component view: the current gateway forecast endpoint calls shared forecasting code directly.</a:t>
            </a:r>
          </a:p>
        </p:txBody>
      </p:sp>
    </p:spTree>
  </p:cSld>
  <p:clrMapOvr>
    <a:masterClrMapping/>
  </p:clrMapOvr>
  <p:transition advClick="1"/>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EVALUATION</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Evaluation: distinguish the original and new experiments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12</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src/evaluation/model_evaluation.py; model_metrics.json; performance_summary.json</a:t>
            </a:r>
          </a:p>
        </p:txBody>
      </p:sp>
      <p:sp>
        <p:nvSpPr>
          <p:cNvPr id="10" name="Rounded Rectangle 9"/>
          <p:cNvSpPr/>
          <p:nvPr/>
        </p:nvSpPr>
        <p:spPr>
          <a:xfrm>
            <a:off x="548640" y="1764792"/>
            <a:ext cx="3547872" cy="1874519"/>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29384"/>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MAE</a:t>
            </a:r>
          </a:p>
        </p:txBody>
      </p:sp>
      <p:sp>
        <p:nvSpPr>
          <p:cNvPr id="12" name="TextBox 11"/>
          <p:cNvSpPr txBox="1"/>
          <p:nvPr/>
        </p:nvSpPr>
        <p:spPr>
          <a:xfrm>
            <a:off x="749808" y="2560320"/>
            <a:ext cx="3145536" cy="1005839"/>
          </a:xfrm>
          <a:prstGeom prst="rect">
            <a:avLst/>
          </a:prstGeom>
          <a:noFill/>
        </p:spPr>
        <p:txBody>
          <a:bodyPr wrap="square" lIns="0" rIns="0" tIns="0" bIns="0">
            <a:spAutoFit/>
          </a:bodyPr>
          <a:lstStyle/>
          <a:p>
            <a:pPr>
              <a:spcAft>
                <a:spcPts val="700"/>
              </a:spcAft>
              <a:defRPr sz="2100" b="0">
                <a:solidFill>
                  <a:srgbClr val="17344A"/>
                </a:solidFill>
                <a:latin typeface="Aptos"/>
              </a:defRPr>
            </a:pPr>
            <a:r>
              <a:t>Average absolute error</a:t>
            </a:r>
          </a:p>
          <a:p>
            <a:pPr>
              <a:spcAft>
                <a:spcPts val="700"/>
              </a:spcAft>
              <a:defRPr sz="2100" b="0">
                <a:solidFill>
                  <a:srgbClr val="17344A"/>
                </a:solidFill>
                <a:latin typeface="Aptos"/>
              </a:defRPr>
            </a:pPr>
            <a:r>
              <a:t>Lower is better</a:t>
            </a:r>
          </a:p>
        </p:txBody>
      </p:sp>
      <p:sp>
        <p:nvSpPr>
          <p:cNvPr id="13" name="Rounded Rectangle 12"/>
          <p:cNvSpPr/>
          <p:nvPr/>
        </p:nvSpPr>
        <p:spPr>
          <a:xfrm>
            <a:off x="4325112" y="1764792"/>
            <a:ext cx="3547872" cy="1874519"/>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29384"/>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RMSE</a:t>
            </a:r>
          </a:p>
        </p:txBody>
      </p:sp>
      <p:sp>
        <p:nvSpPr>
          <p:cNvPr id="15" name="TextBox 14"/>
          <p:cNvSpPr txBox="1"/>
          <p:nvPr/>
        </p:nvSpPr>
        <p:spPr>
          <a:xfrm>
            <a:off x="4526280" y="2560320"/>
            <a:ext cx="3145536" cy="1005839"/>
          </a:xfrm>
          <a:prstGeom prst="rect">
            <a:avLst/>
          </a:prstGeom>
          <a:noFill/>
        </p:spPr>
        <p:txBody>
          <a:bodyPr wrap="square" lIns="0" rIns="0" tIns="0" bIns="0">
            <a:spAutoFit/>
          </a:bodyPr>
          <a:lstStyle/>
          <a:p>
            <a:pPr>
              <a:spcAft>
                <a:spcPts val="700"/>
              </a:spcAft>
              <a:defRPr sz="2100" b="0">
                <a:solidFill>
                  <a:srgbClr val="17344A"/>
                </a:solidFill>
                <a:latin typeface="Aptos"/>
              </a:defRPr>
            </a:pPr>
            <a:r>
              <a:t>Emphasises large errors</a:t>
            </a:r>
          </a:p>
          <a:p>
            <a:pPr>
              <a:spcAft>
                <a:spcPts val="700"/>
              </a:spcAft>
              <a:defRPr sz="2100" b="0">
                <a:solidFill>
                  <a:srgbClr val="17344A"/>
                </a:solidFill>
                <a:latin typeface="Aptos"/>
              </a:defRPr>
            </a:pPr>
            <a:r>
              <a:t>Lower is better</a:t>
            </a:r>
          </a:p>
        </p:txBody>
      </p:sp>
      <p:sp>
        <p:nvSpPr>
          <p:cNvPr id="16" name="Rounded Rectangle 15"/>
          <p:cNvSpPr/>
          <p:nvPr/>
        </p:nvSpPr>
        <p:spPr>
          <a:xfrm>
            <a:off x="8101583" y="1764792"/>
            <a:ext cx="3547872" cy="1874519"/>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29384"/>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MAPE</a:t>
            </a:r>
          </a:p>
        </p:txBody>
      </p:sp>
      <p:sp>
        <p:nvSpPr>
          <p:cNvPr id="18" name="TextBox 17"/>
          <p:cNvSpPr txBox="1"/>
          <p:nvPr/>
        </p:nvSpPr>
        <p:spPr>
          <a:xfrm>
            <a:off x="8302752" y="2560320"/>
            <a:ext cx="3145536" cy="1005839"/>
          </a:xfrm>
          <a:prstGeom prst="rect">
            <a:avLst/>
          </a:prstGeom>
          <a:noFill/>
        </p:spPr>
        <p:txBody>
          <a:bodyPr wrap="square" lIns="0" rIns="0" tIns="0" bIns="0">
            <a:spAutoFit/>
          </a:bodyPr>
          <a:lstStyle/>
          <a:p>
            <a:pPr>
              <a:spcAft>
                <a:spcPts val="700"/>
              </a:spcAft>
              <a:defRPr sz="2100" b="0">
                <a:solidFill>
                  <a:srgbClr val="17344A"/>
                </a:solidFill>
                <a:latin typeface="Aptos"/>
              </a:defRPr>
            </a:pPr>
            <a:r>
              <a:t>Percentage error</a:t>
            </a:r>
          </a:p>
          <a:p>
            <a:pPr>
              <a:spcAft>
                <a:spcPts val="700"/>
              </a:spcAft>
              <a:defRPr sz="2100" b="0">
                <a:solidFill>
                  <a:srgbClr val="17344A"/>
                </a:solidFill>
                <a:latin typeface="Aptos"/>
              </a:defRPr>
            </a:pPr>
            <a:r>
              <a:t>Sensitive to small actuals</a:t>
            </a:r>
          </a:p>
        </p:txBody>
      </p:sp>
      <p:sp>
        <p:nvSpPr>
          <p:cNvPr id="19" name="TextBox 18"/>
          <p:cNvSpPr txBox="1"/>
          <p:nvPr/>
        </p:nvSpPr>
        <p:spPr>
          <a:xfrm>
            <a:off x="640080" y="3986784"/>
            <a:ext cx="10789920" cy="502920"/>
          </a:xfrm>
          <a:prstGeom prst="rect">
            <a:avLst/>
          </a:prstGeom>
          <a:noFill/>
        </p:spPr>
        <p:txBody>
          <a:bodyPr wrap="square" lIns="0" rIns="0" tIns="0" bIns="0">
            <a:spAutoFit/>
          </a:bodyPr>
          <a:lstStyle/>
          <a:p>
            <a:pPr>
              <a:spcAft>
                <a:spcPts val="700"/>
              </a:spcAft>
              <a:defRPr sz="2700" b="1">
                <a:solidFill>
                  <a:srgbClr val="1678AD"/>
                </a:solidFill>
                <a:latin typeface="Aptos"/>
              </a:defRPr>
            </a:pPr>
            <a:r>
              <a:t>Original benchmark + new stacking holdout</a:t>
            </a:r>
          </a:p>
        </p:txBody>
      </p:sp>
      <p:sp>
        <p:nvSpPr>
          <p:cNvPr id="20" name="TextBox 19"/>
          <p:cNvSpPr txBox="1"/>
          <p:nvPr/>
        </p:nvSpPr>
        <p:spPr>
          <a:xfrm>
            <a:off x="640080" y="4645152"/>
            <a:ext cx="10789920" cy="548640"/>
          </a:xfrm>
          <a:prstGeom prst="rect">
            <a:avLst/>
          </a:prstGeom>
          <a:noFill/>
        </p:spPr>
        <p:txBody>
          <a:bodyPr wrap="square" lIns="0" rIns="0" tIns="0" bIns="0">
            <a:spAutoFit/>
          </a:bodyPr>
          <a:lstStyle/>
          <a:p>
            <a:pPr>
              <a:spcAft>
                <a:spcPts val="700"/>
              </a:spcAft>
              <a:defRPr sz="2200" b="0">
                <a:solidFill>
                  <a:srgbClr val="17344A"/>
                </a:solidFill>
                <a:latin typeface="Aptos"/>
              </a:defRPr>
            </a:pPr>
            <a:r>
              <a:t>Overall values = arithmetic mean of the eight category metrics.</a:t>
            </a:r>
          </a:p>
        </p:txBody>
      </p:sp>
      <p:sp>
        <p:nvSpPr>
          <p:cNvPr id="21" name="Rounded Rectangle 20"/>
          <p:cNvSpPr/>
          <p:nvPr/>
        </p:nvSpPr>
        <p:spPr>
          <a:xfrm>
            <a:off x="502920" y="5779008"/>
            <a:ext cx="11183112" cy="502920"/>
          </a:xfrm>
          <a:prstGeom prst="roundRect">
            <a:avLst>
              <a:gd name="adj" fmla="val 12000"/>
            </a:avLst>
          </a:prstGeom>
          <a:solidFill>
            <a:srgbClr val="FFF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New stacking test: 507 training weeks + 10 untouched test weeks. Original benchmark limitations remain.</a:t>
            </a:r>
          </a:p>
        </p:txBody>
      </p:sp>
    </p:spTree>
  </p:cSld>
  <p:clrMapOvr>
    <a:masterClrMapping/>
  </p:clrMapOvr>
  <p:transition advClick="1"/>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RESULTS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Original benchmark: LightGBM leads on absolute error</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13</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performance_summary.json; values checked against category means in model_metrics.json</a:t>
            </a:r>
          </a:p>
        </p:txBody>
      </p:sp>
      <p:sp>
        <p:nvSpPr>
          <p:cNvPr id="10" name="TextBox 9"/>
          <p:cNvSpPr txBox="1"/>
          <p:nvPr/>
        </p:nvSpPr>
        <p:spPr>
          <a:xfrm>
            <a:off x="594360" y="1801368"/>
            <a:ext cx="1874519" cy="310896"/>
          </a:xfrm>
          <a:prstGeom prst="rect">
            <a:avLst/>
          </a:prstGeom>
          <a:noFill/>
        </p:spPr>
        <p:txBody>
          <a:bodyPr wrap="square" lIns="0" rIns="0" tIns="0" bIns="0">
            <a:spAutoFit/>
          </a:bodyPr>
          <a:lstStyle/>
          <a:p>
            <a:pPr>
              <a:spcAft>
                <a:spcPts val="700"/>
              </a:spcAft>
              <a:defRPr sz="2000" b="1">
                <a:solidFill>
                  <a:srgbClr val="17344A"/>
                </a:solidFill>
                <a:latin typeface="Aptos"/>
              </a:defRPr>
            </a:pPr>
            <a:r>
              <a:t>LightGBM</a:t>
            </a:r>
          </a:p>
        </p:txBody>
      </p:sp>
      <p:sp>
        <p:nvSpPr>
          <p:cNvPr id="11" name="Rectangle 10"/>
          <p:cNvSpPr/>
          <p:nvPr/>
        </p:nvSpPr>
        <p:spPr>
          <a:xfrm>
            <a:off x="2560320" y="1737360"/>
            <a:ext cx="3266876" cy="329184"/>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6924" y="1755648"/>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23.3728</a:t>
            </a:r>
          </a:p>
        </p:txBody>
      </p:sp>
      <p:sp>
        <p:nvSpPr>
          <p:cNvPr id="13" name="TextBox 12"/>
          <p:cNvSpPr txBox="1"/>
          <p:nvPr/>
        </p:nvSpPr>
        <p:spPr>
          <a:xfrm>
            <a:off x="594360" y="2285999"/>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LSTM</a:t>
            </a:r>
          </a:p>
        </p:txBody>
      </p:sp>
      <p:sp>
        <p:nvSpPr>
          <p:cNvPr id="14" name="Rectangle 13"/>
          <p:cNvSpPr/>
          <p:nvPr/>
        </p:nvSpPr>
        <p:spPr>
          <a:xfrm>
            <a:off x="2560320" y="2221991"/>
            <a:ext cx="3359601"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9649" y="2240279"/>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24.0362</a:t>
            </a:r>
          </a:p>
        </p:txBody>
      </p:sp>
      <p:sp>
        <p:nvSpPr>
          <p:cNvPr id="16" name="TextBox 15"/>
          <p:cNvSpPr txBox="1"/>
          <p:nvPr/>
        </p:nvSpPr>
        <p:spPr>
          <a:xfrm>
            <a:off x="594360" y="2770632"/>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GRU</a:t>
            </a:r>
          </a:p>
        </p:txBody>
      </p:sp>
      <p:sp>
        <p:nvSpPr>
          <p:cNvPr id="17" name="Rectangle 16"/>
          <p:cNvSpPr/>
          <p:nvPr/>
        </p:nvSpPr>
        <p:spPr>
          <a:xfrm>
            <a:off x="2560320" y="2706624"/>
            <a:ext cx="3369972"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40020" y="2724912"/>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24.1104</a:t>
            </a:r>
          </a:p>
        </p:txBody>
      </p:sp>
      <p:sp>
        <p:nvSpPr>
          <p:cNvPr id="19" name="TextBox 18"/>
          <p:cNvSpPr txBox="1"/>
          <p:nvPr/>
        </p:nvSpPr>
        <p:spPr>
          <a:xfrm>
            <a:off x="594360" y="3255264"/>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XGBoost</a:t>
            </a:r>
          </a:p>
        </p:txBody>
      </p:sp>
      <p:sp>
        <p:nvSpPr>
          <p:cNvPr id="20" name="Rectangle 19"/>
          <p:cNvSpPr/>
          <p:nvPr/>
        </p:nvSpPr>
        <p:spPr>
          <a:xfrm>
            <a:off x="2560320" y="3191256"/>
            <a:ext cx="3559713"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29761" y="3209544"/>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25.4679</a:t>
            </a:r>
          </a:p>
        </p:txBody>
      </p:sp>
      <p:sp>
        <p:nvSpPr>
          <p:cNvPr id="22" name="TextBox 21"/>
          <p:cNvSpPr txBox="1"/>
          <p:nvPr/>
        </p:nvSpPr>
        <p:spPr>
          <a:xfrm>
            <a:off x="594360" y="3739896"/>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Transformer</a:t>
            </a:r>
          </a:p>
        </p:txBody>
      </p:sp>
      <p:sp>
        <p:nvSpPr>
          <p:cNvPr id="23" name="Rectangle 22"/>
          <p:cNvSpPr/>
          <p:nvPr/>
        </p:nvSpPr>
        <p:spPr>
          <a:xfrm>
            <a:off x="2560320" y="3675887"/>
            <a:ext cx="4038141"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8189" y="3694175"/>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28.8908</a:t>
            </a:r>
          </a:p>
        </p:txBody>
      </p:sp>
      <p:sp>
        <p:nvSpPr>
          <p:cNvPr id="25" name="TextBox 24"/>
          <p:cNvSpPr txBox="1"/>
          <p:nvPr/>
        </p:nvSpPr>
        <p:spPr>
          <a:xfrm>
            <a:off x="594360" y="4224528"/>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SARIMAX</a:t>
            </a:r>
          </a:p>
        </p:txBody>
      </p:sp>
      <p:sp>
        <p:nvSpPr>
          <p:cNvPr id="26" name="Rectangle 25"/>
          <p:cNvSpPr/>
          <p:nvPr/>
        </p:nvSpPr>
        <p:spPr>
          <a:xfrm>
            <a:off x="2560320" y="4160520"/>
            <a:ext cx="4262308"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32356" y="4178808"/>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30.4946</a:t>
            </a:r>
          </a:p>
        </p:txBody>
      </p:sp>
      <p:sp>
        <p:nvSpPr>
          <p:cNvPr id="28" name="TextBox 27"/>
          <p:cNvSpPr txBox="1"/>
          <p:nvPr/>
        </p:nvSpPr>
        <p:spPr>
          <a:xfrm>
            <a:off x="594360" y="4709160"/>
            <a:ext cx="1874519" cy="310896"/>
          </a:xfrm>
          <a:prstGeom prst="rect">
            <a:avLst/>
          </a:prstGeom>
          <a:noFill/>
        </p:spPr>
        <p:txBody>
          <a:bodyPr wrap="square" lIns="0" rIns="0" tIns="0" bIns="0">
            <a:spAutoFit/>
          </a:bodyPr>
          <a:lstStyle/>
          <a:p>
            <a:pPr>
              <a:spcAft>
                <a:spcPts val="700"/>
              </a:spcAft>
              <a:defRPr sz="2000" b="0">
                <a:solidFill>
                  <a:srgbClr val="17344A"/>
                </a:solidFill>
                <a:latin typeface="Aptos"/>
              </a:defRPr>
            </a:pPr>
            <a:r>
              <a:t>Prophet</a:t>
            </a:r>
          </a:p>
        </p:txBody>
      </p:sp>
      <p:sp>
        <p:nvSpPr>
          <p:cNvPr id="29" name="Rectangle 28"/>
          <p:cNvSpPr/>
          <p:nvPr/>
        </p:nvSpPr>
        <p:spPr>
          <a:xfrm>
            <a:off x="2560320" y="4645152"/>
            <a:ext cx="4552141" cy="329184"/>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2189" y="4663440"/>
            <a:ext cx="1097280" cy="320040"/>
          </a:xfrm>
          <a:prstGeom prst="rect">
            <a:avLst/>
          </a:prstGeom>
          <a:noFill/>
        </p:spPr>
        <p:txBody>
          <a:bodyPr wrap="square" lIns="0" rIns="0" tIns="0" bIns="0">
            <a:spAutoFit/>
          </a:bodyPr>
          <a:lstStyle/>
          <a:p>
            <a:pPr>
              <a:spcAft>
                <a:spcPts val="700"/>
              </a:spcAft>
              <a:defRPr sz="1800" b="1">
                <a:solidFill>
                  <a:srgbClr val="17344A"/>
                </a:solidFill>
                <a:latin typeface="Aptos"/>
              </a:defRPr>
            </a:pPr>
            <a:r>
              <a:t>32.5682</a:t>
            </a:r>
          </a:p>
        </p:txBody>
      </p:sp>
      <p:sp>
        <p:nvSpPr>
          <p:cNvPr id="31" name="TextBox 30"/>
          <p:cNvSpPr txBox="1"/>
          <p:nvPr/>
        </p:nvSpPr>
        <p:spPr>
          <a:xfrm>
            <a:off x="640080" y="5422392"/>
            <a:ext cx="7589520" cy="274320"/>
          </a:xfrm>
          <a:prstGeom prst="rect">
            <a:avLst/>
          </a:prstGeom>
          <a:noFill/>
        </p:spPr>
        <p:txBody>
          <a:bodyPr wrap="square" lIns="0" rIns="0" tIns="0" bIns="0">
            <a:spAutoFit/>
          </a:bodyPr>
          <a:lstStyle/>
          <a:p>
            <a:pPr>
              <a:spcAft>
                <a:spcPts val="700"/>
              </a:spcAft>
              <a:defRPr sz="1500" b="0">
                <a:solidFill>
                  <a:srgbClr val="526879"/>
                </a:solidFill>
                <a:latin typeface="Aptos"/>
              </a:defRPr>
            </a:pPr>
            <a:r>
              <a:t>Mean category MAE • original sales scale • lower is better</a:t>
            </a:r>
          </a:p>
        </p:txBody>
      </p:sp>
      <p:sp>
        <p:nvSpPr>
          <p:cNvPr id="32" name="Rounded Rectangle 31"/>
          <p:cNvSpPr/>
          <p:nvPr/>
        </p:nvSpPr>
        <p:spPr>
          <a:xfrm>
            <a:off x="8430768" y="1764792"/>
            <a:ext cx="3200400" cy="3364992"/>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68512" y="2011680"/>
            <a:ext cx="2724912" cy="457200"/>
          </a:xfrm>
          <a:prstGeom prst="rect">
            <a:avLst/>
          </a:prstGeom>
          <a:noFill/>
        </p:spPr>
        <p:txBody>
          <a:bodyPr wrap="square" lIns="0" rIns="0" tIns="0" bIns="0">
            <a:spAutoFit/>
          </a:bodyPr>
          <a:lstStyle/>
          <a:p>
            <a:pPr>
              <a:spcAft>
                <a:spcPts val="700"/>
              </a:spcAft>
              <a:defRPr sz="2500" b="1">
                <a:solidFill>
                  <a:srgbClr val="1678AD"/>
                </a:solidFill>
                <a:latin typeface="Aptos"/>
              </a:defRPr>
            </a:pPr>
            <a:r>
              <a:t>LightGBM</a:t>
            </a:r>
          </a:p>
        </p:txBody>
      </p:sp>
      <p:sp>
        <p:nvSpPr>
          <p:cNvPr id="34" name="TextBox 33"/>
          <p:cNvSpPr txBox="1"/>
          <p:nvPr/>
        </p:nvSpPr>
        <p:spPr>
          <a:xfrm>
            <a:off x="8668512" y="2743200"/>
            <a:ext cx="2743200" cy="594360"/>
          </a:xfrm>
          <a:prstGeom prst="rect">
            <a:avLst/>
          </a:prstGeom>
          <a:noFill/>
        </p:spPr>
        <p:txBody>
          <a:bodyPr wrap="square" lIns="0" rIns="0" tIns="0" bIns="0">
            <a:spAutoFit/>
          </a:bodyPr>
          <a:lstStyle/>
          <a:p>
            <a:pPr>
              <a:spcAft>
                <a:spcPts val="700"/>
              </a:spcAft>
              <a:defRPr sz="3400" b="1">
                <a:solidFill>
                  <a:srgbClr val="102F4A"/>
                </a:solidFill>
                <a:latin typeface="Aptos"/>
              </a:defRPr>
            </a:pPr>
            <a:r>
              <a:t>23.3728</a:t>
            </a:r>
          </a:p>
        </p:txBody>
      </p:sp>
      <p:sp>
        <p:nvSpPr>
          <p:cNvPr id="35" name="TextBox 34"/>
          <p:cNvSpPr txBox="1"/>
          <p:nvPr/>
        </p:nvSpPr>
        <p:spPr>
          <a:xfrm>
            <a:off x="8668512" y="3337560"/>
            <a:ext cx="2743200" cy="365760"/>
          </a:xfrm>
          <a:prstGeom prst="rect">
            <a:avLst/>
          </a:prstGeom>
          <a:noFill/>
        </p:spPr>
        <p:txBody>
          <a:bodyPr wrap="square" lIns="0" rIns="0" tIns="0" bIns="0">
            <a:spAutoFit/>
          </a:bodyPr>
          <a:lstStyle/>
          <a:p>
            <a:pPr>
              <a:spcAft>
                <a:spcPts val="700"/>
              </a:spcAft>
              <a:defRPr sz="1800" b="0">
                <a:solidFill>
                  <a:srgbClr val="526879"/>
                </a:solidFill>
                <a:latin typeface="Aptos"/>
              </a:defRPr>
            </a:pPr>
            <a:r>
              <a:t>average MAE</a:t>
            </a:r>
          </a:p>
        </p:txBody>
      </p:sp>
      <p:sp>
        <p:nvSpPr>
          <p:cNvPr id="36" name="TextBox 35"/>
          <p:cNvSpPr txBox="1"/>
          <p:nvPr/>
        </p:nvSpPr>
        <p:spPr>
          <a:xfrm>
            <a:off x="8668512" y="3895344"/>
            <a:ext cx="2743200" cy="548640"/>
          </a:xfrm>
          <a:prstGeom prst="rect">
            <a:avLst/>
          </a:prstGeom>
          <a:noFill/>
        </p:spPr>
        <p:txBody>
          <a:bodyPr wrap="square" lIns="0" rIns="0" tIns="0" bIns="0">
            <a:spAutoFit/>
          </a:bodyPr>
          <a:lstStyle/>
          <a:p>
            <a:pPr>
              <a:spcAft>
                <a:spcPts val="700"/>
              </a:spcAft>
              <a:defRPr sz="3000" b="1">
                <a:solidFill>
                  <a:srgbClr val="102F4A"/>
                </a:solidFill>
                <a:latin typeface="Aptos"/>
              </a:defRPr>
            </a:pPr>
            <a:r>
              <a:t>28.9163</a:t>
            </a:r>
          </a:p>
        </p:txBody>
      </p:sp>
      <p:sp>
        <p:nvSpPr>
          <p:cNvPr id="37" name="TextBox 36"/>
          <p:cNvSpPr txBox="1"/>
          <p:nvPr/>
        </p:nvSpPr>
        <p:spPr>
          <a:xfrm>
            <a:off x="8668512" y="4526280"/>
            <a:ext cx="2743200" cy="365760"/>
          </a:xfrm>
          <a:prstGeom prst="rect">
            <a:avLst/>
          </a:prstGeom>
          <a:noFill/>
        </p:spPr>
        <p:txBody>
          <a:bodyPr wrap="square" lIns="0" rIns="0" tIns="0" bIns="0">
            <a:spAutoFit/>
          </a:bodyPr>
          <a:lstStyle/>
          <a:p>
            <a:pPr>
              <a:spcAft>
                <a:spcPts val="700"/>
              </a:spcAft>
              <a:defRPr sz="1800" b="0">
                <a:solidFill>
                  <a:srgbClr val="526879"/>
                </a:solidFill>
                <a:latin typeface="Aptos"/>
              </a:defRPr>
            </a:pPr>
            <a:r>
              <a:t>average RMSE</a:t>
            </a:r>
          </a:p>
        </p:txBody>
      </p:sp>
      <p:sp>
        <p:nvSpPr>
          <p:cNvPr id="38" name="Rounded Rectangle 37"/>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Original experiment only: these numbers are not directly comparable to the new stacking test.</a:t>
            </a:r>
          </a:p>
        </p:txBody>
      </p:sp>
    </p:spTree>
  </p:cSld>
  <p:clrMapOvr>
    <a:masterClrMapping/>
  </p:clrMapOvr>
  <p:transition advClick="1"/>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RESULTS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Original benchmark: the best model varies by category</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14</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src/evaluation_results/model_metrics.json; minimum MAE within each category</a:t>
            </a:r>
          </a:p>
        </p:txBody>
      </p:sp>
      <p:sp>
        <p:nvSpPr>
          <p:cNvPr id="10" name="Rectangle 9"/>
          <p:cNvSpPr/>
          <p:nvPr/>
        </p:nvSpPr>
        <p:spPr>
          <a:xfrm>
            <a:off x="594360" y="1645920"/>
            <a:ext cx="132588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737360"/>
            <a:ext cx="1115568" cy="356616"/>
          </a:xfrm>
          <a:prstGeom prst="rect">
            <a:avLst/>
          </a:prstGeom>
          <a:noFill/>
        </p:spPr>
        <p:txBody>
          <a:bodyPr wrap="square" lIns="0" rIns="0" tIns="0" bIns="0">
            <a:spAutoFit/>
          </a:bodyPr>
          <a:lstStyle/>
          <a:p>
            <a:pPr>
              <a:spcAft>
                <a:spcPts val="700"/>
              </a:spcAft>
              <a:defRPr sz="1800" b="1">
                <a:solidFill>
                  <a:srgbClr val="FFFFFF"/>
                </a:solidFill>
                <a:latin typeface="Aptos"/>
              </a:defRPr>
            </a:pPr>
            <a:r>
              <a:t>Category</a:t>
            </a:r>
          </a:p>
        </p:txBody>
      </p:sp>
      <p:sp>
        <p:nvSpPr>
          <p:cNvPr id="12" name="Rectangle 11"/>
          <p:cNvSpPr/>
          <p:nvPr/>
        </p:nvSpPr>
        <p:spPr>
          <a:xfrm>
            <a:off x="1920240" y="1645920"/>
            <a:ext cx="425196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29968" y="1737360"/>
            <a:ext cx="4041648" cy="356616"/>
          </a:xfrm>
          <a:prstGeom prst="rect">
            <a:avLst/>
          </a:prstGeom>
          <a:noFill/>
        </p:spPr>
        <p:txBody>
          <a:bodyPr wrap="square" lIns="0" rIns="0" tIns="0" bIns="0">
            <a:spAutoFit/>
          </a:bodyPr>
          <a:lstStyle/>
          <a:p>
            <a:pPr>
              <a:spcAft>
                <a:spcPts val="700"/>
              </a:spcAft>
              <a:defRPr sz="1800" b="1">
                <a:solidFill>
                  <a:srgbClr val="FFFFFF"/>
                </a:solidFill>
                <a:latin typeface="Aptos"/>
              </a:defRPr>
            </a:pPr>
            <a:r>
              <a:t>Lowest recorded MAE model</a:t>
            </a:r>
          </a:p>
        </p:txBody>
      </p:sp>
      <p:sp>
        <p:nvSpPr>
          <p:cNvPr id="14" name="Rectangle 13"/>
          <p:cNvSpPr/>
          <p:nvPr/>
        </p:nvSpPr>
        <p:spPr>
          <a:xfrm>
            <a:off x="6172200" y="1645920"/>
            <a:ext cx="1737360" cy="448056"/>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8" y="1737360"/>
            <a:ext cx="1527048" cy="356616"/>
          </a:xfrm>
          <a:prstGeom prst="rect">
            <a:avLst/>
          </a:prstGeom>
          <a:noFill/>
        </p:spPr>
        <p:txBody>
          <a:bodyPr wrap="square" lIns="0" rIns="0" tIns="0" bIns="0">
            <a:spAutoFit/>
          </a:bodyPr>
          <a:lstStyle/>
          <a:p>
            <a:pPr>
              <a:spcAft>
                <a:spcPts val="700"/>
              </a:spcAft>
              <a:defRPr sz="1800" b="1">
                <a:solidFill>
                  <a:srgbClr val="FFFFFF"/>
                </a:solidFill>
                <a:latin typeface="Aptos"/>
              </a:defRPr>
            </a:pPr>
            <a:r>
              <a:t>MAE</a:t>
            </a:r>
          </a:p>
        </p:txBody>
      </p:sp>
      <p:sp>
        <p:nvSpPr>
          <p:cNvPr id="16" name="Rectangle 15"/>
          <p:cNvSpPr/>
          <p:nvPr/>
        </p:nvSpPr>
        <p:spPr>
          <a:xfrm>
            <a:off x="594360" y="2093976"/>
            <a:ext cx="132588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185416"/>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C1</a:t>
            </a:r>
          </a:p>
        </p:txBody>
      </p:sp>
      <p:sp>
        <p:nvSpPr>
          <p:cNvPr id="18" name="Rectangle 17"/>
          <p:cNvSpPr/>
          <p:nvPr/>
        </p:nvSpPr>
        <p:spPr>
          <a:xfrm>
            <a:off x="1920240" y="2093976"/>
            <a:ext cx="42519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29968" y="2185416"/>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GRU</a:t>
            </a:r>
          </a:p>
        </p:txBody>
      </p:sp>
      <p:sp>
        <p:nvSpPr>
          <p:cNvPr id="20" name="Rectangle 19"/>
          <p:cNvSpPr/>
          <p:nvPr/>
        </p:nvSpPr>
        <p:spPr>
          <a:xfrm>
            <a:off x="6172200" y="2093976"/>
            <a:ext cx="17373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1928" y="2185416"/>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9.8758</a:t>
            </a:r>
          </a:p>
        </p:txBody>
      </p:sp>
      <p:sp>
        <p:nvSpPr>
          <p:cNvPr id="22" name="Rectangle 21"/>
          <p:cNvSpPr/>
          <p:nvPr/>
        </p:nvSpPr>
        <p:spPr>
          <a:xfrm>
            <a:off x="594360" y="2542032"/>
            <a:ext cx="132588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2633472"/>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C2</a:t>
            </a:r>
          </a:p>
        </p:txBody>
      </p:sp>
      <p:sp>
        <p:nvSpPr>
          <p:cNvPr id="24" name="Rectangle 23"/>
          <p:cNvSpPr/>
          <p:nvPr/>
        </p:nvSpPr>
        <p:spPr>
          <a:xfrm>
            <a:off x="1920240" y="2542032"/>
            <a:ext cx="42519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29968" y="2633472"/>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Prophet</a:t>
            </a:r>
          </a:p>
        </p:txBody>
      </p:sp>
      <p:sp>
        <p:nvSpPr>
          <p:cNvPr id="26" name="Rectangle 25"/>
          <p:cNvSpPr/>
          <p:nvPr/>
        </p:nvSpPr>
        <p:spPr>
          <a:xfrm>
            <a:off x="6172200" y="2542032"/>
            <a:ext cx="17373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2633472"/>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13.1088</a:t>
            </a:r>
          </a:p>
        </p:txBody>
      </p:sp>
      <p:sp>
        <p:nvSpPr>
          <p:cNvPr id="28" name="Rectangle 27"/>
          <p:cNvSpPr/>
          <p:nvPr/>
        </p:nvSpPr>
        <p:spPr>
          <a:xfrm>
            <a:off x="594360" y="2990088"/>
            <a:ext cx="132588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3081528"/>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C3</a:t>
            </a:r>
          </a:p>
        </p:txBody>
      </p:sp>
      <p:sp>
        <p:nvSpPr>
          <p:cNvPr id="30" name="Rectangle 29"/>
          <p:cNvSpPr/>
          <p:nvPr/>
        </p:nvSpPr>
        <p:spPr>
          <a:xfrm>
            <a:off x="1920240" y="2990088"/>
            <a:ext cx="42519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29968" y="3081528"/>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Prophet</a:t>
            </a:r>
          </a:p>
        </p:txBody>
      </p:sp>
      <p:sp>
        <p:nvSpPr>
          <p:cNvPr id="32" name="Rectangle 31"/>
          <p:cNvSpPr/>
          <p:nvPr/>
        </p:nvSpPr>
        <p:spPr>
          <a:xfrm>
            <a:off x="6172200" y="2990088"/>
            <a:ext cx="17373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3081528"/>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10.2570</a:t>
            </a:r>
          </a:p>
        </p:txBody>
      </p:sp>
      <p:sp>
        <p:nvSpPr>
          <p:cNvPr id="34" name="Rectangle 33"/>
          <p:cNvSpPr/>
          <p:nvPr/>
        </p:nvSpPr>
        <p:spPr>
          <a:xfrm>
            <a:off x="594360" y="3438144"/>
            <a:ext cx="132588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529584"/>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C4</a:t>
            </a:r>
          </a:p>
        </p:txBody>
      </p:sp>
      <p:sp>
        <p:nvSpPr>
          <p:cNvPr id="36" name="Rectangle 35"/>
          <p:cNvSpPr/>
          <p:nvPr/>
        </p:nvSpPr>
        <p:spPr>
          <a:xfrm>
            <a:off x="1920240" y="3438144"/>
            <a:ext cx="42519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29968" y="3529584"/>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LightGBM</a:t>
            </a:r>
          </a:p>
        </p:txBody>
      </p:sp>
      <p:sp>
        <p:nvSpPr>
          <p:cNvPr id="38" name="Rectangle 37"/>
          <p:cNvSpPr/>
          <p:nvPr/>
        </p:nvSpPr>
        <p:spPr>
          <a:xfrm>
            <a:off x="6172200" y="3438144"/>
            <a:ext cx="17373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81928" y="3529584"/>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72.6065</a:t>
            </a:r>
          </a:p>
        </p:txBody>
      </p:sp>
      <p:sp>
        <p:nvSpPr>
          <p:cNvPr id="40" name="Rectangle 39"/>
          <p:cNvSpPr/>
          <p:nvPr/>
        </p:nvSpPr>
        <p:spPr>
          <a:xfrm>
            <a:off x="594360" y="3886200"/>
            <a:ext cx="132588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3977640"/>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C5</a:t>
            </a:r>
          </a:p>
        </p:txBody>
      </p:sp>
      <p:sp>
        <p:nvSpPr>
          <p:cNvPr id="42" name="Rectangle 41"/>
          <p:cNvSpPr/>
          <p:nvPr/>
        </p:nvSpPr>
        <p:spPr>
          <a:xfrm>
            <a:off x="1920240" y="3886200"/>
            <a:ext cx="42519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29968" y="3977640"/>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LSTM</a:t>
            </a:r>
          </a:p>
        </p:txBody>
      </p:sp>
      <p:sp>
        <p:nvSpPr>
          <p:cNvPr id="44" name="Rectangle 43"/>
          <p:cNvSpPr/>
          <p:nvPr/>
        </p:nvSpPr>
        <p:spPr>
          <a:xfrm>
            <a:off x="6172200" y="3886200"/>
            <a:ext cx="17373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1928" y="3977640"/>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24.8986</a:t>
            </a:r>
          </a:p>
        </p:txBody>
      </p:sp>
      <p:sp>
        <p:nvSpPr>
          <p:cNvPr id="46" name="Rectangle 45"/>
          <p:cNvSpPr/>
          <p:nvPr/>
        </p:nvSpPr>
        <p:spPr>
          <a:xfrm>
            <a:off x="594360" y="4334256"/>
            <a:ext cx="132588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 y="4425696"/>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C6</a:t>
            </a:r>
          </a:p>
        </p:txBody>
      </p:sp>
      <p:sp>
        <p:nvSpPr>
          <p:cNvPr id="48" name="Rectangle 47"/>
          <p:cNvSpPr/>
          <p:nvPr/>
        </p:nvSpPr>
        <p:spPr>
          <a:xfrm>
            <a:off x="1920240" y="4334256"/>
            <a:ext cx="42519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29968" y="4425696"/>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LSTM</a:t>
            </a:r>
          </a:p>
        </p:txBody>
      </p:sp>
      <p:sp>
        <p:nvSpPr>
          <p:cNvPr id="50" name="Rectangle 49"/>
          <p:cNvSpPr/>
          <p:nvPr/>
        </p:nvSpPr>
        <p:spPr>
          <a:xfrm>
            <a:off x="6172200" y="4334256"/>
            <a:ext cx="17373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81928" y="4425696"/>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3.1634</a:t>
            </a:r>
          </a:p>
        </p:txBody>
      </p:sp>
      <p:sp>
        <p:nvSpPr>
          <p:cNvPr id="52" name="Rectangle 51"/>
          <p:cNvSpPr/>
          <p:nvPr/>
        </p:nvSpPr>
        <p:spPr>
          <a:xfrm>
            <a:off x="594360" y="4782312"/>
            <a:ext cx="132588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8" y="4873752"/>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C7</a:t>
            </a:r>
          </a:p>
        </p:txBody>
      </p:sp>
      <p:sp>
        <p:nvSpPr>
          <p:cNvPr id="54" name="Rectangle 53"/>
          <p:cNvSpPr/>
          <p:nvPr/>
        </p:nvSpPr>
        <p:spPr>
          <a:xfrm>
            <a:off x="1920240" y="4782312"/>
            <a:ext cx="42519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29968" y="4873752"/>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XGBoost</a:t>
            </a:r>
          </a:p>
        </p:txBody>
      </p:sp>
      <p:sp>
        <p:nvSpPr>
          <p:cNvPr id="56" name="Rectangle 55"/>
          <p:cNvSpPr/>
          <p:nvPr/>
        </p:nvSpPr>
        <p:spPr>
          <a:xfrm>
            <a:off x="6172200" y="4782312"/>
            <a:ext cx="1737360" cy="448056"/>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81928" y="4873752"/>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26.0462</a:t>
            </a:r>
          </a:p>
        </p:txBody>
      </p:sp>
      <p:sp>
        <p:nvSpPr>
          <p:cNvPr id="58" name="Rectangle 57"/>
          <p:cNvSpPr/>
          <p:nvPr/>
        </p:nvSpPr>
        <p:spPr>
          <a:xfrm>
            <a:off x="594360" y="5230368"/>
            <a:ext cx="132588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4088" y="5321808"/>
            <a:ext cx="111556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C8</a:t>
            </a:r>
          </a:p>
        </p:txBody>
      </p:sp>
      <p:sp>
        <p:nvSpPr>
          <p:cNvPr id="60" name="Rectangle 59"/>
          <p:cNvSpPr/>
          <p:nvPr/>
        </p:nvSpPr>
        <p:spPr>
          <a:xfrm>
            <a:off x="1920240" y="5230368"/>
            <a:ext cx="42519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29968" y="5321808"/>
            <a:ext cx="40416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LSTM</a:t>
            </a:r>
          </a:p>
        </p:txBody>
      </p:sp>
      <p:sp>
        <p:nvSpPr>
          <p:cNvPr id="62" name="Rectangle 61"/>
          <p:cNvSpPr/>
          <p:nvPr/>
        </p:nvSpPr>
        <p:spPr>
          <a:xfrm>
            <a:off x="6172200" y="5230368"/>
            <a:ext cx="1737360" cy="4480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81928" y="5321808"/>
            <a:ext cx="1527048" cy="356616"/>
          </a:xfrm>
          <a:prstGeom prst="rect">
            <a:avLst/>
          </a:prstGeom>
          <a:noFill/>
        </p:spPr>
        <p:txBody>
          <a:bodyPr wrap="square" lIns="0" rIns="0" tIns="0" bIns="0">
            <a:spAutoFit/>
          </a:bodyPr>
          <a:lstStyle/>
          <a:p>
            <a:pPr>
              <a:spcAft>
                <a:spcPts val="700"/>
              </a:spcAft>
              <a:defRPr sz="1800" b="0">
                <a:solidFill>
                  <a:srgbClr val="17344A"/>
                </a:solidFill>
                <a:latin typeface="Aptos"/>
              </a:defRPr>
            </a:pPr>
            <a:r>
              <a:t>13.8154</a:t>
            </a:r>
          </a:p>
        </p:txBody>
      </p:sp>
      <p:sp>
        <p:nvSpPr>
          <p:cNvPr id="64" name="Rounded Rectangle 63"/>
          <p:cNvSpPr/>
          <p:nvPr/>
        </p:nvSpPr>
        <p:spPr>
          <a:xfrm>
            <a:off x="8229600" y="1847088"/>
            <a:ext cx="3364992" cy="3438144"/>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30768" y="2039112"/>
            <a:ext cx="2971800" cy="777240"/>
          </a:xfrm>
          <a:prstGeom prst="rect">
            <a:avLst/>
          </a:prstGeom>
          <a:noFill/>
        </p:spPr>
        <p:txBody>
          <a:bodyPr wrap="square" lIns="0" rIns="0" tIns="0" bIns="0">
            <a:spAutoFit/>
          </a:bodyPr>
          <a:lstStyle/>
          <a:p>
            <a:pPr>
              <a:spcAft>
                <a:spcPts val="700"/>
              </a:spcAft>
              <a:defRPr sz="2700" b="1">
                <a:solidFill>
                  <a:srgbClr val="1678AD"/>
                </a:solidFill>
                <a:latin typeface="Aptos"/>
              </a:defRPr>
            </a:pPr>
            <a:r>
              <a:t>No universal winner</a:t>
            </a:r>
          </a:p>
        </p:txBody>
      </p:sp>
      <p:sp>
        <p:nvSpPr>
          <p:cNvPr id="66" name="TextBox 65"/>
          <p:cNvSpPr txBox="1"/>
          <p:nvPr/>
        </p:nvSpPr>
        <p:spPr>
          <a:xfrm>
            <a:off x="8430768" y="3054096"/>
            <a:ext cx="2889504" cy="2011680"/>
          </a:xfrm>
          <a:prstGeom prst="rect">
            <a:avLst/>
          </a:prstGeom>
          <a:noFill/>
        </p:spPr>
        <p:txBody>
          <a:bodyPr wrap="square" lIns="0" rIns="0" tIns="0" bIns="0">
            <a:spAutoFit/>
          </a:bodyPr>
          <a:lstStyle/>
          <a:p>
            <a:pPr>
              <a:spcAft>
                <a:spcPts val="700"/>
              </a:spcAft>
              <a:defRPr sz="2000" b="0">
                <a:solidFill>
                  <a:srgbClr val="17344A"/>
                </a:solidFill>
                <a:latin typeface="Aptos"/>
              </a:defRPr>
            </a:pPr>
            <a:r>
              <a:t>LSTM leads in 3 of 8 categories.</a:t>
            </a:r>
          </a:p>
          <a:p>
            <a:pPr>
              <a:spcAft>
                <a:spcPts val="700"/>
              </a:spcAft>
              <a:defRPr sz="2000" b="0">
                <a:solidFill>
                  <a:srgbClr val="17344A"/>
                </a:solidFill>
                <a:latin typeface="Aptos"/>
              </a:defRPr>
            </a:pPr>
          </a:p>
          <a:p>
            <a:pPr>
              <a:spcAft>
                <a:spcPts val="700"/>
              </a:spcAft>
              <a:defRPr sz="2000" b="0">
                <a:solidFill>
                  <a:srgbClr val="17344A"/>
                </a:solidFill>
                <a:latin typeface="Aptos"/>
              </a:defRPr>
            </a:pPr>
            <a:r>
              <a:t>LightGBM leads on average MAE and RMSE.</a:t>
            </a:r>
          </a:p>
        </p:txBody>
      </p:sp>
      <p:sp>
        <p:nvSpPr>
          <p:cNvPr id="67" name="Rounded Rectangle 66"/>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A deployment model-selection rule still needs an independent validation and test period.</a:t>
            </a:r>
          </a:p>
        </p:txBody>
      </p:sp>
    </p:spTree>
  </p:cSld>
  <p:clrMapOvr>
    <a:masterClrMapping/>
  </p:clrMapOvr>
  <p:transition advClick="1"/>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EXPLAINABILITY</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Explainability must name the method actually returned</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15</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Saved fallback_importance_C1_xgboost_20260712_042311.png; shap_explainer.py §§411–458; thesis §4.4</a:t>
            </a:r>
          </a:p>
        </p:txBody>
      </p:sp>
      <p:pic>
        <p:nvPicPr>
          <p:cNvPr id="10" name="Picture 9" descr="fallback_importance_C1_xgboost_20260712_042311.png"/>
          <p:cNvPicPr>
            <a:picLocks noChangeAspect="1"/>
          </p:cNvPicPr>
          <p:nvPr/>
        </p:nvPicPr>
        <p:blipFill>
          <a:blip r:embed="rId3"/>
          <a:stretch>
            <a:fillRect/>
          </a:stretch>
        </p:blipFill>
        <p:spPr>
          <a:xfrm>
            <a:off x="972388" y="1719072"/>
            <a:ext cx="6504279" cy="3858768"/>
          </a:xfrm>
          <a:prstGeom prst="rect">
            <a:avLst/>
          </a:prstGeom>
        </p:spPr>
      </p:pic>
      <p:sp>
        <p:nvSpPr>
          <p:cNvPr id="11" name="Rounded Rectangle 10"/>
          <p:cNvSpPr/>
          <p:nvPr/>
        </p:nvSpPr>
        <p:spPr>
          <a:xfrm>
            <a:off x="8138160" y="1783080"/>
            <a:ext cx="3474720" cy="3767328"/>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993392"/>
            <a:ext cx="2971800" cy="502920"/>
          </a:xfrm>
          <a:prstGeom prst="rect">
            <a:avLst/>
          </a:prstGeom>
          <a:noFill/>
        </p:spPr>
        <p:txBody>
          <a:bodyPr wrap="square" lIns="0" rIns="0" tIns="0" bIns="0">
            <a:spAutoFit/>
          </a:bodyPr>
          <a:lstStyle/>
          <a:p>
            <a:pPr>
              <a:spcAft>
                <a:spcPts val="700"/>
              </a:spcAft>
              <a:defRPr sz="2400" b="1">
                <a:solidFill>
                  <a:srgbClr val="1678AD"/>
                </a:solidFill>
                <a:latin typeface="Aptos"/>
              </a:defRPr>
            </a:pPr>
            <a:r>
              <a:t>Saved C1 example</a:t>
            </a:r>
          </a:p>
        </p:txBody>
      </p:sp>
      <p:sp>
        <p:nvSpPr>
          <p:cNvPr id="13" name="TextBox 12"/>
          <p:cNvSpPr txBox="1"/>
          <p:nvPr/>
        </p:nvSpPr>
        <p:spPr>
          <a:xfrm>
            <a:off x="8366760" y="2788920"/>
            <a:ext cx="2971800" cy="502920"/>
          </a:xfrm>
          <a:prstGeom prst="rect">
            <a:avLst/>
          </a:prstGeom>
          <a:noFill/>
        </p:spPr>
        <p:txBody>
          <a:bodyPr wrap="square" lIns="0" rIns="0" tIns="0" bIns="0">
            <a:spAutoFit/>
          </a:bodyPr>
          <a:lstStyle/>
          <a:p>
            <a:pPr>
              <a:spcAft>
                <a:spcPts val="700"/>
              </a:spcAft>
              <a:defRPr sz="2600" b="1">
                <a:solidFill>
                  <a:srgbClr val="102F4A"/>
                </a:solidFill>
                <a:latin typeface="Aptos"/>
              </a:defRPr>
            </a:pPr>
            <a:r>
              <a:t>sales_lag_4</a:t>
            </a:r>
          </a:p>
        </p:txBody>
      </p:sp>
      <p:sp>
        <p:nvSpPr>
          <p:cNvPr id="14" name="TextBox 13"/>
          <p:cNvSpPr txBox="1"/>
          <p:nvPr/>
        </p:nvSpPr>
        <p:spPr>
          <a:xfrm>
            <a:off x="8366760" y="3337560"/>
            <a:ext cx="2971800" cy="566928"/>
          </a:xfrm>
          <a:prstGeom prst="rect">
            <a:avLst/>
          </a:prstGeom>
          <a:noFill/>
        </p:spPr>
        <p:txBody>
          <a:bodyPr wrap="square" lIns="0" rIns="0" tIns="0" bIns="0">
            <a:spAutoFit/>
          </a:bodyPr>
          <a:lstStyle/>
          <a:p>
            <a:pPr>
              <a:spcAft>
                <a:spcPts val="700"/>
              </a:spcAft>
              <a:defRPr sz="3400" b="1">
                <a:solidFill>
                  <a:srgbClr val="102F4A"/>
                </a:solidFill>
                <a:latin typeface="Aptos"/>
              </a:defRPr>
            </a:pPr>
            <a:r>
              <a:t>0.2664</a:t>
            </a:r>
          </a:p>
        </p:txBody>
      </p:sp>
      <p:sp>
        <p:nvSpPr>
          <p:cNvPr id="15" name="TextBox 14"/>
          <p:cNvSpPr txBox="1"/>
          <p:nvPr/>
        </p:nvSpPr>
        <p:spPr>
          <a:xfrm>
            <a:off x="8366760" y="4041648"/>
            <a:ext cx="2834640" cy="1417320"/>
          </a:xfrm>
          <a:prstGeom prst="rect">
            <a:avLst/>
          </a:prstGeom>
          <a:noFill/>
        </p:spPr>
        <p:txBody>
          <a:bodyPr wrap="square" lIns="0" rIns="0" tIns="0" bIns="0">
            <a:spAutoFit/>
          </a:bodyPr>
          <a:lstStyle/>
          <a:p>
            <a:pPr>
              <a:spcAft>
                <a:spcPts val="700"/>
              </a:spcAft>
              <a:defRPr sz="1800" b="0">
                <a:solidFill>
                  <a:srgbClr val="17344A"/>
                </a:solidFill>
                <a:latin typeface="Aptos"/>
              </a:defRPr>
            </a:pPr>
            <a:r>
              <a:t>normalised importance</a:t>
            </a:r>
          </a:p>
          <a:p>
            <a:pPr>
              <a:spcAft>
                <a:spcPts val="700"/>
              </a:spcAft>
              <a:defRPr sz="1800" b="0">
                <a:solidFill>
                  <a:srgbClr val="17344A"/>
                </a:solidFill>
                <a:latin typeface="Aptos"/>
              </a:defRPr>
            </a:pPr>
          </a:p>
          <a:p>
            <a:pPr>
              <a:spcAft>
                <a:spcPts val="700"/>
              </a:spcAft>
              <a:defRPr sz="1800" b="0">
                <a:solidFill>
                  <a:srgbClr val="17344A"/>
                </a:solidFill>
                <a:latin typeface="Aptos"/>
              </a:defRPr>
            </a:pPr>
            <a:r>
              <a:t>Method: fallback</a:t>
            </a:r>
          </a:p>
          <a:p>
            <a:pPr>
              <a:spcAft>
                <a:spcPts val="700"/>
              </a:spcAft>
              <a:defRPr sz="1800" b="0">
                <a:solidFill>
                  <a:srgbClr val="17344A"/>
                </a:solidFill>
                <a:latin typeface="Aptos"/>
              </a:defRPr>
            </a:pPr>
            <a:r>
              <a:t>lag importance</a:t>
            </a:r>
          </a:p>
        </p:txBody>
      </p:sp>
      <p:sp>
        <p:nvSpPr>
          <p:cNvPr id="16" name="Rounded Rectangle 15"/>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This output ranks lag importance; it is neither a causal effect nor a local SHAP attribution.</a:t>
            </a:r>
          </a:p>
        </p:txBody>
      </p:sp>
    </p:spTree>
  </p:cSld>
  <p:clrMapOvr>
    <a:masterClrMapping/>
  </p:clrMapOvr>
  <p:transition advClick="1"/>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RESEARCH EXTENSIONS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Advanced AI modules are experimental extensions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16</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nas_results_C1_1783854913.json; fed_results_C1_iid_1783854914.json; causal_discovery_C1.json; thesis §§4.5,4.8</a:t>
            </a:r>
          </a:p>
        </p:txBody>
      </p:sp>
      <p:sp>
        <p:nvSpPr>
          <p:cNvPr id="10" name="Rectangle 9"/>
          <p:cNvSpPr/>
          <p:nvPr/>
        </p:nvSpPr>
        <p:spPr>
          <a:xfrm>
            <a:off x="566928" y="1828800"/>
            <a:ext cx="2971800" cy="731520"/>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920240"/>
            <a:ext cx="2761488" cy="640080"/>
          </a:xfrm>
          <a:prstGeom prst="rect">
            <a:avLst/>
          </a:prstGeom>
          <a:noFill/>
        </p:spPr>
        <p:txBody>
          <a:bodyPr wrap="square" lIns="0" rIns="0" tIns="0" bIns="0">
            <a:spAutoFit/>
          </a:bodyPr>
          <a:lstStyle/>
          <a:p>
            <a:pPr>
              <a:spcAft>
                <a:spcPts val="700"/>
              </a:spcAft>
              <a:defRPr sz="1900" b="1">
                <a:solidFill>
                  <a:srgbClr val="FFFFFF"/>
                </a:solidFill>
                <a:latin typeface="Aptos"/>
              </a:defRPr>
            </a:pPr>
            <a:r>
              <a:t>Module</a:t>
            </a:r>
          </a:p>
        </p:txBody>
      </p:sp>
      <p:sp>
        <p:nvSpPr>
          <p:cNvPr id="12" name="Rectangle 11"/>
          <p:cNvSpPr/>
          <p:nvPr/>
        </p:nvSpPr>
        <p:spPr>
          <a:xfrm>
            <a:off x="3538728" y="1828800"/>
            <a:ext cx="4279392" cy="731520"/>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1920240"/>
            <a:ext cx="4069079" cy="640080"/>
          </a:xfrm>
          <a:prstGeom prst="rect">
            <a:avLst/>
          </a:prstGeom>
          <a:noFill/>
        </p:spPr>
        <p:txBody>
          <a:bodyPr wrap="square" lIns="0" rIns="0" tIns="0" bIns="0">
            <a:spAutoFit/>
          </a:bodyPr>
          <a:lstStyle/>
          <a:p>
            <a:pPr>
              <a:spcAft>
                <a:spcPts val="700"/>
              </a:spcAft>
              <a:defRPr sz="1900" b="1">
                <a:solidFill>
                  <a:srgbClr val="FFFFFF"/>
                </a:solidFill>
                <a:latin typeface="Aptos"/>
              </a:defRPr>
            </a:pPr>
            <a:r>
              <a:t>Available evidence</a:t>
            </a:r>
          </a:p>
        </p:txBody>
      </p:sp>
      <p:sp>
        <p:nvSpPr>
          <p:cNvPr id="14" name="Rectangle 13"/>
          <p:cNvSpPr/>
          <p:nvPr/>
        </p:nvSpPr>
        <p:spPr>
          <a:xfrm>
            <a:off x="7818120" y="1828800"/>
            <a:ext cx="3813048" cy="731520"/>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7848" y="1920240"/>
            <a:ext cx="3602736" cy="640080"/>
          </a:xfrm>
          <a:prstGeom prst="rect">
            <a:avLst/>
          </a:prstGeom>
          <a:noFill/>
        </p:spPr>
        <p:txBody>
          <a:bodyPr wrap="square" lIns="0" rIns="0" tIns="0" bIns="0">
            <a:spAutoFit/>
          </a:bodyPr>
          <a:lstStyle/>
          <a:p>
            <a:pPr>
              <a:spcAft>
                <a:spcPts val="700"/>
              </a:spcAft>
              <a:defRPr sz="1900" b="1">
                <a:solidFill>
                  <a:srgbClr val="FFFFFF"/>
                </a:solidFill>
                <a:latin typeface="Aptos"/>
              </a:defRPr>
            </a:pPr>
            <a:r>
              <a:t>Interpretation</a:t>
            </a:r>
          </a:p>
        </p:txBody>
      </p:sp>
      <p:sp>
        <p:nvSpPr>
          <p:cNvPr id="16" name="Rectangle 15"/>
          <p:cNvSpPr/>
          <p:nvPr/>
        </p:nvSpPr>
        <p:spPr>
          <a:xfrm>
            <a:off x="566928" y="2560320"/>
            <a:ext cx="297180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2651760"/>
            <a:ext cx="2761488"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Neural architecture search</a:t>
            </a:r>
          </a:p>
        </p:txBody>
      </p:sp>
      <p:sp>
        <p:nvSpPr>
          <p:cNvPr id="18" name="Rectangle 17"/>
          <p:cNvSpPr/>
          <p:nvPr/>
        </p:nvSpPr>
        <p:spPr>
          <a:xfrm>
            <a:off x="3538728" y="2560320"/>
            <a:ext cx="4279392"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8456" y="2651760"/>
            <a:ext cx="4069079"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C1 run: 8 architectures evaluated</a:t>
            </a:r>
          </a:p>
        </p:txBody>
      </p:sp>
      <p:sp>
        <p:nvSpPr>
          <p:cNvPr id="20" name="Rectangle 19"/>
          <p:cNvSpPr/>
          <p:nvPr/>
        </p:nvSpPr>
        <p:spPr>
          <a:xfrm>
            <a:off x="7818120" y="2560320"/>
            <a:ext cx="3813048"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7848" y="2651760"/>
            <a:ext cx="3602736"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Small search; scaled metrics</a:t>
            </a:r>
          </a:p>
        </p:txBody>
      </p:sp>
      <p:sp>
        <p:nvSpPr>
          <p:cNvPr id="22" name="Rectangle 21"/>
          <p:cNvSpPr/>
          <p:nvPr/>
        </p:nvSpPr>
        <p:spPr>
          <a:xfrm>
            <a:off x="566928" y="3291839"/>
            <a:ext cx="29718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383279"/>
            <a:ext cx="2761488"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Federated learning</a:t>
            </a:r>
          </a:p>
        </p:txBody>
      </p:sp>
      <p:sp>
        <p:nvSpPr>
          <p:cNvPr id="24" name="Rectangle 23"/>
          <p:cNvSpPr/>
          <p:nvPr/>
        </p:nvSpPr>
        <p:spPr>
          <a:xfrm>
            <a:off x="3538728" y="3291839"/>
            <a:ext cx="4279392"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3383279"/>
            <a:ext cx="4069079"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2 simulated clients; 1 FedAvg round</a:t>
            </a:r>
          </a:p>
        </p:txBody>
      </p:sp>
      <p:sp>
        <p:nvSpPr>
          <p:cNvPr id="26" name="Rectangle 25"/>
          <p:cNvSpPr/>
          <p:nvPr/>
        </p:nvSpPr>
        <p:spPr>
          <a:xfrm>
            <a:off x="7818120" y="3291839"/>
            <a:ext cx="3813048"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7848" y="3383279"/>
            <a:ext cx="3602736"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Local demonstration</a:t>
            </a:r>
          </a:p>
        </p:txBody>
      </p:sp>
      <p:sp>
        <p:nvSpPr>
          <p:cNvPr id="28" name="Rectangle 27"/>
          <p:cNvSpPr/>
          <p:nvPr/>
        </p:nvSpPr>
        <p:spPr>
          <a:xfrm>
            <a:off x="566928" y="4023359"/>
            <a:ext cx="297180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114799"/>
            <a:ext cx="2761488"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Meta-learning</a:t>
            </a:r>
          </a:p>
        </p:txBody>
      </p:sp>
      <p:sp>
        <p:nvSpPr>
          <p:cNvPr id="30" name="Rectangle 29"/>
          <p:cNvSpPr/>
          <p:nvPr/>
        </p:nvSpPr>
        <p:spPr>
          <a:xfrm>
            <a:off x="3538728" y="4023359"/>
            <a:ext cx="4279392"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48456" y="4114799"/>
            <a:ext cx="4069079"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Adaptation code; recorded MAML untrained</a:t>
            </a:r>
          </a:p>
        </p:txBody>
      </p:sp>
      <p:sp>
        <p:nvSpPr>
          <p:cNvPr id="32" name="Rectangle 31"/>
          <p:cNvSpPr/>
          <p:nvPr/>
        </p:nvSpPr>
        <p:spPr>
          <a:xfrm>
            <a:off x="7818120" y="4023359"/>
            <a:ext cx="3813048"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27848" y="4114799"/>
            <a:ext cx="3602736"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No demonstrated benchmark gain</a:t>
            </a:r>
          </a:p>
        </p:txBody>
      </p:sp>
      <p:sp>
        <p:nvSpPr>
          <p:cNvPr id="34" name="Rectangle 33"/>
          <p:cNvSpPr/>
          <p:nvPr/>
        </p:nvSpPr>
        <p:spPr>
          <a:xfrm>
            <a:off x="566928" y="4754879"/>
            <a:ext cx="297180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4846319"/>
            <a:ext cx="2761488"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Causal analysis</a:t>
            </a:r>
          </a:p>
        </p:txBody>
      </p:sp>
      <p:sp>
        <p:nvSpPr>
          <p:cNvPr id="36" name="Rectangle 35"/>
          <p:cNvSpPr/>
          <p:nvPr/>
        </p:nvSpPr>
        <p:spPr>
          <a:xfrm>
            <a:off x="3538728" y="4754879"/>
            <a:ext cx="4279392"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48456" y="4846319"/>
            <a:ext cx="4069079"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Recorded temporal-feature correlations</a:t>
            </a:r>
          </a:p>
        </p:txBody>
      </p:sp>
      <p:sp>
        <p:nvSpPr>
          <p:cNvPr id="38" name="Rectangle 37"/>
          <p:cNvSpPr/>
          <p:nvPr/>
        </p:nvSpPr>
        <p:spPr>
          <a:xfrm>
            <a:off x="7818120" y="4754879"/>
            <a:ext cx="3813048"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7848" y="4846319"/>
            <a:ext cx="3602736" cy="640080"/>
          </a:xfrm>
          <a:prstGeom prst="rect">
            <a:avLst/>
          </a:prstGeom>
          <a:noFill/>
        </p:spPr>
        <p:txBody>
          <a:bodyPr wrap="square" lIns="0" rIns="0" tIns="0" bIns="0">
            <a:spAutoFit/>
          </a:bodyPr>
          <a:lstStyle/>
          <a:p>
            <a:pPr>
              <a:spcAft>
                <a:spcPts val="700"/>
              </a:spcAft>
              <a:defRPr sz="1900" b="0">
                <a:solidFill>
                  <a:srgbClr val="17344A"/>
                </a:solidFill>
                <a:latin typeface="Aptos"/>
              </a:defRPr>
            </a:pPr>
            <a:r>
              <a:t>Association, not causal proof</a:t>
            </a:r>
          </a:p>
        </p:txBody>
      </p:sp>
      <p:sp>
        <p:nvSpPr>
          <p:cNvPr id="40" name="Rounded Rectangle 39"/>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Implemented extension does not imply independently validated improvement in forecasting accuracy.</a:t>
            </a:r>
          </a:p>
        </p:txBody>
      </p:sp>
    </p:spTree>
  </p:cSld>
  <p:clrMapOvr>
    <a:masterClrMapping/>
  </p:clrMapOvr>
  <p:transition advClick="1"/>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APPLICATION</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Application demonstration • embedded offline walkthrough</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17</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Project UI screenshot; C1 historical output chart; saved C1 fallback explanation; 45-second silent MP4</a:t>
            </a:r>
          </a:p>
        </p:txBody>
      </p:sp>
      <p:pic>
        <p:nvPicPr>
          <p:cNvPr id="10" name="project_walkthrough.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980590" y="1517904"/>
            <a:ext cx="8229600" cy="4629150"/>
          </a:xfrm>
          <a:prstGeom prst="rect">
            <a:avLst/>
          </a:prstGeom>
        </p:spPr>
      </p:pic>
      <p:sp>
        <p:nvSpPr>
          <p:cNvPr id="11" name="TextBox 10"/>
          <p:cNvSpPr txBox="1"/>
          <p:nvPr/>
        </p:nvSpPr>
        <p:spPr>
          <a:xfrm>
            <a:off x="594360" y="6172200"/>
            <a:ext cx="10972800" cy="182880"/>
          </a:xfrm>
          <a:prstGeom prst="rect">
            <a:avLst/>
          </a:prstGeom>
          <a:noFill/>
        </p:spPr>
        <p:txBody>
          <a:bodyPr wrap="square" lIns="0" rIns="0" tIns="0" bIns="0">
            <a:spAutoFit/>
          </a:bodyPr>
          <a:lstStyle/>
          <a:p>
            <a:pPr algn="ctr">
              <a:spcAft>
                <a:spcPts val="700"/>
              </a:spcAft>
              <a:defRPr sz="1100" b="0">
                <a:solidFill>
                  <a:srgbClr val="526879"/>
                </a:solidFill>
                <a:latin typeface="Aptos"/>
              </a:defRPr>
            </a:pPr>
            <a:r>
              <a:t>Click to play • 45 seconds • saved screens, historical lookup and explanation</a:t>
            </a:r>
          </a:p>
        </p:txBody>
      </p:sp>
    </p:spTree>
  </p:cSld>
  <p:clrMapOvr>
    <a:masterClrMapping/>
  </p:clrMapOvr>
  <p:transition advClick="1"/>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VERIFICATION</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Stacking passes functional and chronological checks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18</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tests/test_stacking.py; tests/test_services_smoke.py; tests/test_stacking_ui.cjs; stacking_integration_checks.json</a:t>
            </a:r>
          </a:p>
        </p:txBody>
      </p:sp>
      <p:sp>
        <p:nvSpPr>
          <p:cNvPr id="10" name="Rounded Rectangle 9"/>
          <p:cNvSpPr/>
          <p:nvPr/>
        </p:nvSpPr>
        <p:spPr>
          <a:xfrm>
            <a:off x="548640" y="1792224"/>
            <a:ext cx="3547872" cy="3456432"/>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56816"/>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17 checks passed</a:t>
            </a:r>
          </a:p>
        </p:txBody>
      </p:sp>
      <p:sp>
        <p:nvSpPr>
          <p:cNvPr id="12" name="TextBox 11"/>
          <p:cNvSpPr txBox="1"/>
          <p:nvPr/>
        </p:nvSpPr>
        <p:spPr>
          <a:xfrm>
            <a:off x="749808" y="2587752"/>
            <a:ext cx="3145536" cy="2587752"/>
          </a:xfrm>
          <a:prstGeom prst="rect">
            <a:avLst/>
          </a:prstGeom>
          <a:noFill/>
        </p:spPr>
        <p:txBody>
          <a:bodyPr wrap="square" lIns="0" rIns="0" tIns="0" bIns="0">
            <a:spAutoFit/>
          </a:bodyPr>
          <a:lstStyle/>
          <a:p>
            <a:pPr>
              <a:spcAft>
                <a:spcPts val="700"/>
              </a:spcAft>
              <a:defRPr sz="2100" b="0">
                <a:solidFill>
                  <a:srgbClr val="17344A"/>
                </a:solidFill>
                <a:latin typeface="Aptos"/>
              </a:defRPr>
            </a:pPr>
            <a:r>
              <a:t>16 Python tests</a:t>
            </a:r>
          </a:p>
          <a:p>
            <a:pPr>
              <a:spcAft>
                <a:spcPts val="700"/>
              </a:spcAft>
              <a:defRPr sz="2100" b="0">
                <a:solidFill>
                  <a:srgbClr val="17344A"/>
                </a:solidFill>
                <a:latin typeface="Aptos"/>
              </a:defRPr>
            </a:pPr>
            <a:r>
              <a:t>1 JavaScript UI test</a:t>
            </a:r>
          </a:p>
          <a:p>
            <a:pPr>
              <a:spcAft>
                <a:spcPts val="700"/>
              </a:spcAft>
              <a:defRPr sz="2100" b="0">
                <a:solidFill>
                  <a:srgbClr val="17344A"/>
                </a:solidFill>
                <a:latin typeface="Aptos"/>
              </a:defRPr>
            </a:pPr>
            <a:r>
              <a:t>Chronology + horizon checks</a:t>
            </a:r>
          </a:p>
          <a:p>
            <a:pPr>
              <a:spcAft>
                <a:spcPts val="700"/>
              </a:spcAft>
              <a:defRPr sz="2100" b="0">
                <a:solidFill>
                  <a:srgbClr val="17344A"/>
                </a:solidFill>
                <a:latin typeface="Aptos"/>
              </a:defRPr>
            </a:pPr>
            <a:r>
              <a:t>Artifact integrity + errors</a:t>
            </a:r>
          </a:p>
        </p:txBody>
      </p:sp>
      <p:sp>
        <p:nvSpPr>
          <p:cNvPr id="13" name="Rounded Rectangle 12"/>
          <p:cNvSpPr/>
          <p:nvPr/>
        </p:nvSpPr>
        <p:spPr>
          <a:xfrm>
            <a:off x="4325112" y="1792224"/>
            <a:ext cx="3547872" cy="3456432"/>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56816"/>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Stacking API check</a:t>
            </a:r>
          </a:p>
        </p:txBody>
      </p:sp>
      <p:sp>
        <p:nvSpPr>
          <p:cNvPr id="15" name="TextBox 14"/>
          <p:cNvSpPr txBox="1"/>
          <p:nvPr/>
        </p:nvSpPr>
        <p:spPr>
          <a:xfrm>
            <a:off x="4526280" y="2587752"/>
            <a:ext cx="3145536" cy="2587752"/>
          </a:xfrm>
          <a:prstGeom prst="rect">
            <a:avLst/>
          </a:prstGeom>
          <a:noFill/>
        </p:spPr>
        <p:txBody>
          <a:bodyPr wrap="square" lIns="0" rIns="0" tIns="0" bIns="0">
            <a:spAutoFit/>
          </a:bodyPr>
          <a:lstStyle/>
          <a:p>
            <a:pPr>
              <a:spcAft>
                <a:spcPts val="700"/>
              </a:spcAft>
              <a:defRPr sz="2100" b="0">
                <a:solidFill>
                  <a:srgbClr val="17344A"/>
                </a:solidFill>
                <a:latin typeface="Aptos"/>
              </a:defRPr>
            </a:pPr>
            <a:r>
              <a:t>C1 request: 11 Dec 2023</a:t>
            </a:r>
          </a:p>
          <a:p>
            <a:pPr>
              <a:spcAft>
                <a:spcPts val="700"/>
              </a:spcAft>
              <a:defRPr sz="2100" b="0">
                <a:solidFill>
                  <a:srgbClr val="17344A"/>
                </a:solidFill>
                <a:latin typeface="Aptos"/>
              </a:defRPr>
            </a:pPr>
            <a:r>
              <a:t>Weekly end: 17 Dec 2023</a:t>
            </a:r>
          </a:p>
          <a:p>
            <a:pPr>
              <a:spcAft>
                <a:spcPts val="700"/>
              </a:spcAft>
              <a:defRPr sz="2100" b="0">
                <a:solidFill>
                  <a:srgbClr val="17344A"/>
                </a:solidFill>
                <a:latin typeface="Aptos"/>
              </a:defRPr>
            </a:pPr>
            <a:r>
              <a:t>Forecast: 53.0036</a:t>
            </a:r>
          </a:p>
          <a:p>
            <a:pPr>
              <a:spcAft>
                <a:spcPts val="700"/>
              </a:spcAft>
              <a:defRPr sz="2100" b="0">
                <a:solidFill>
                  <a:srgbClr val="17344A"/>
                </a:solidFill>
                <a:latin typeface="Aptos"/>
              </a:defRPr>
            </a:pPr>
            <a:r>
              <a:t>HTTP status: 200</a:t>
            </a:r>
          </a:p>
        </p:txBody>
      </p:sp>
      <p:sp>
        <p:nvSpPr>
          <p:cNvPr id="16" name="Rounded Rectangle 15"/>
          <p:cNvSpPr/>
          <p:nvPr/>
        </p:nvSpPr>
        <p:spPr>
          <a:xfrm>
            <a:off x="8101583" y="1792224"/>
            <a:ext cx="3547872" cy="3456432"/>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56816"/>
            <a:ext cx="3145536"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Application output</a:t>
            </a:r>
          </a:p>
        </p:txBody>
      </p:sp>
      <p:sp>
        <p:nvSpPr>
          <p:cNvPr id="18" name="TextBox 17"/>
          <p:cNvSpPr txBox="1"/>
          <p:nvPr/>
        </p:nvSpPr>
        <p:spPr>
          <a:xfrm>
            <a:off x="8302752" y="2587752"/>
            <a:ext cx="3145536" cy="2587752"/>
          </a:xfrm>
          <a:prstGeom prst="rect">
            <a:avLst/>
          </a:prstGeom>
          <a:noFill/>
        </p:spPr>
        <p:txBody>
          <a:bodyPr wrap="square" lIns="0" rIns="0" tIns="0" bIns="0">
            <a:spAutoFit/>
          </a:bodyPr>
          <a:lstStyle/>
          <a:p>
            <a:pPr>
              <a:spcAft>
                <a:spcPts val="700"/>
              </a:spcAft>
              <a:defRPr sz="2100" b="0">
                <a:solidFill>
                  <a:srgbClr val="17344A"/>
                </a:solidFill>
                <a:latin typeface="Aptos"/>
              </a:defRPr>
            </a:pPr>
            <a:r>
              <a:t>Actual recorded sales chart</a:t>
            </a:r>
          </a:p>
          <a:p>
            <a:pPr>
              <a:spcAft>
                <a:spcPts val="700"/>
              </a:spcAft>
              <a:defRPr sz="2100" b="0">
                <a:solidFill>
                  <a:srgbClr val="17344A"/>
                </a:solidFill>
                <a:latin typeface="Aptos"/>
              </a:defRPr>
            </a:pPr>
            <a:r>
              <a:t>Measured holdout errors</a:t>
            </a:r>
          </a:p>
          <a:p>
            <a:pPr>
              <a:spcAft>
                <a:spcPts val="700"/>
              </a:spcAft>
              <a:defRPr sz="2100" b="0">
                <a:solidFill>
                  <a:srgbClr val="17344A"/>
                </a:solidFill>
                <a:latin typeface="Aptos"/>
              </a:defRPr>
            </a:pPr>
            <a:r>
              <a:t>No invented accuracy score</a:t>
            </a:r>
          </a:p>
          <a:p>
            <a:pPr>
              <a:spcAft>
                <a:spcPts val="700"/>
              </a:spcAft>
              <a:defRPr sz="2100" b="0">
                <a:solidFill>
                  <a:srgbClr val="17344A"/>
                </a:solidFill>
                <a:latin typeface="Aptos"/>
              </a:defRPr>
            </a:pPr>
            <a:r>
              <a:t>Unsupported intervals omitted</a:t>
            </a:r>
          </a:p>
        </p:txBody>
      </p:sp>
      <p:sp>
        <p:nvSpPr>
          <p:cNvPr id="19" name="Rounded Rectangle 18"/>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All 8 stacking artifacts produce finite forecasts. The separate holdout measures forecasting error.</a:t>
            </a:r>
          </a:p>
        </p:txBody>
      </p:sp>
    </p:spTree>
  </p:cSld>
  <p:clrMapOvr>
    <a:masterClrMapping/>
  </p:clrMapOvr>
  <p:transition advClick="1"/>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LIMITATIONS &amp; FUTURE WORK</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Limitations define the next research steps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19</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CSV audit; src/evaluation/model_evaluation.py; forecast_service/app/forecasting.py; thesis §§5.6,6.7</a:t>
            </a:r>
          </a:p>
        </p:txBody>
      </p:sp>
      <p:sp>
        <p:nvSpPr>
          <p:cNvPr id="10" name="Rectangle 9"/>
          <p:cNvSpPr/>
          <p:nvPr/>
        </p:nvSpPr>
        <p:spPr>
          <a:xfrm>
            <a:off x="594360" y="1810512"/>
            <a:ext cx="5120640" cy="731520"/>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01952"/>
            <a:ext cx="4910327" cy="640080"/>
          </a:xfrm>
          <a:prstGeom prst="rect">
            <a:avLst/>
          </a:prstGeom>
          <a:noFill/>
        </p:spPr>
        <p:txBody>
          <a:bodyPr wrap="square" lIns="0" rIns="0" tIns="0" bIns="0">
            <a:spAutoFit/>
          </a:bodyPr>
          <a:lstStyle/>
          <a:p>
            <a:pPr>
              <a:spcAft>
                <a:spcPts val="700"/>
              </a:spcAft>
              <a:defRPr sz="2000" b="1">
                <a:solidFill>
                  <a:srgbClr val="FFFFFF"/>
                </a:solidFill>
                <a:latin typeface="Aptos"/>
              </a:defRPr>
            </a:pPr>
            <a:r>
              <a:t>Current limitation</a:t>
            </a:r>
          </a:p>
        </p:txBody>
      </p:sp>
      <p:sp>
        <p:nvSpPr>
          <p:cNvPr id="12" name="Rectangle 11"/>
          <p:cNvSpPr/>
          <p:nvPr/>
        </p:nvSpPr>
        <p:spPr>
          <a:xfrm>
            <a:off x="5715000" y="1810512"/>
            <a:ext cx="5852160" cy="731520"/>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24728" y="1901952"/>
            <a:ext cx="5641848" cy="640080"/>
          </a:xfrm>
          <a:prstGeom prst="rect">
            <a:avLst/>
          </a:prstGeom>
          <a:noFill/>
        </p:spPr>
        <p:txBody>
          <a:bodyPr wrap="square" lIns="0" rIns="0" tIns="0" bIns="0">
            <a:spAutoFit/>
          </a:bodyPr>
          <a:lstStyle/>
          <a:p>
            <a:pPr>
              <a:spcAft>
                <a:spcPts val="700"/>
              </a:spcAft>
              <a:defRPr sz="2000" b="1">
                <a:solidFill>
                  <a:srgbClr val="FFFFFF"/>
                </a:solidFill>
                <a:latin typeface="Aptos"/>
              </a:defRPr>
            </a:pPr>
            <a:r>
              <a:t>Next step</a:t>
            </a:r>
          </a:p>
        </p:txBody>
      </p:sp>
      <p:sp>
        <p:nvSpPr>
          <p:cNvPr id="14" name="Rectangle 13"/>
          <p:cNvSpPr/>
          <p:nvPr/>
        </p:nvSpPr>
        <p:spPr>
          <a:xfrm>
            <a:off x="594360" y="2542032"/>
            <a:ext cx="512064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633472"/>
            <a:ext cx="4910327"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Hybrid data; no source / regional labels</a:t>
            </a:r>
          </a:p>
        </p:txBody>
      </p:sp>
      <p:sp>
        <p:nvSpPr>
          <p:cNvPr id="16" name="Rectangle 15"/>
          <p:cNvSpPr/>
          <p:nvPr/>
        </p:nvSpPr>
        <p:spPr>
          <a:xfrm>
            <a:off x="5715000" y="2542032"/>
            <a:ext cx="585216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24728" y="2633472"/>
            <a:ext cx="5641848"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Collect traceable, region-labelled pharmacy histories</a:t>
            </a:r>
          </a:p>
        </p:txBody>
      </p:sp>
      <p:sp>
        <p:nvSpPr>
          <p:cNvPr id="18" name="Rectangle 17"/>
          <p:cNvSpPr/>
          <p:nvPr/>
        </p:nvSpPr>
        <p:spPr>
          <a:xfrm>
            <a:off x="594360" y="3273552"/>
            <a:ext cx="512064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364992"/>
            <a:ext cx="4910327"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Original benchmark horizon / split issues</a:t>
            </a:r>
          </a:p>
        </p:txBody>
      </p:sp>
      <p:sp>
        <p:nvSpPr>
          <p:cNvPr id="20" name="Rectangle 19"/>
          <p:cNvSpPr/>
          <p:nvPr/>
        </p:nvSpPr>
        <p:spPr>
          <a:xfrm>
            <a:off x="5715000" y="3273552"/>
            <a:ext cx="58521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24728" y="3364992"/>
            <a:ext cx="5641848"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New stacking is aligned; repeat for the other models</a:t>
            </a:r>
          </a:p>
        </p:txBody>
      </p:sp>
      <p:sp>
        <p:nvSpPr>
          <p:cNvPr id="22" name="Rectangle 21"/>
          <p:cNvSpPr/>
          <p:nvPr/>
        </p:nvSpPr>
        <p:spPr>
          <a:xfrm>
            <a:off x="594360" y="4005072"/>
            <a:ext cx="512064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096511"/>
            <a:ext cx="4910327"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Older API routes use day counts as steps</a:t>
            </a:r>
          </a:p>
        </p:txBody>
      </p:sp>
      <p:sp>
        <p:nvSpPr>
          <p:cNvPr id="24" name="Rectangle 23"/>
          <p:cNvSpPr/>
          <p:nvPr/>
        </p:nvSpPr>
        <p:spPr>
          <a:xfrm>
            <a:off x="5715000" y="4005072"/>
            <a:ext cx="5852160" cy="73152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4728" y="4096511"/>
            <a:ext cx="5641848"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Stacking uses weeks; extend the fix to older routes</a:t>
            </a:r>
          </a:p>
        </p:txBody>
      </p:sp>
      <p:sp>
        <p:nvSpPr>
          <p:cNvPr id="26" name="Rectangle 25"/>
          <p:cNvSpPr/>
          <p:nvPr/>
        </p:nvSpPr>
        <p:spPr>
          <a:xfrm>
            <a:off x="594360" y="4736592"/>
            <a:ext cx="512064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828031"/>
            <a:ext cx="4910327"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Low sales destabilise percentage error</a:t>
            </a:r>
          </a:p>
        </p:txBody>
      </p:sp>
      <p:sp>
        <p:nvSpPr>
          <p:cNvPr id="28" name="Rectangle 27"/>
          <p:cNvSpPr/>
          <p:nvPr/>
        </p:nvSpPr>
        <p:spPr>
          <a:xfrm>
            <a:off x="5715000" y="4736592"/>
            <a:ext cx="58521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24728" y="4828031"/>
            <a:ext cx="5641848" cy="640080"/>
          </a:xfrm>
          <a:prstGeom prst="rect">
            <a:avLst/>
          </a:prstGeom>
          <a:noFill/>
        </p:spPr>
        <p:txBody>
          <a:bodyPr wrap="square" lIns="0" rIns="0" tIns="0" bIns="0">
            <a:spAutoFit/>
          </a:bodyPr>
          <a:lstStyle/>
          <a:p>
            <a:pPr>
              <a:spcAft>
                <a:spcPts val="700"/>
              </a:spcAft>
              <a:defRPr sz="2000" b="0">
                <a:solidFill>
                  <a:srgbClr val="17344A"/>
                </a:solidFill>
                <a:latin typeface="Aptos"/>
              </a:defRPr>
            </a:pPr>
            <a:r>
              <a:t>Add suitable scaled errors and inspect low-volume cases</a:t>
            </a:r>
          </a:p>
        </p:txBody>
      </p:sp>
      <p:sp>
        <p:nvSpPr>
          <p:cNvPr id="30" name="Rounded Rectangle 29"/>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Operational stock-out reduction, cost savings and real multi-pharmacy generalisation remain unmeasured.</a:t>
            </a:r>
          </a:p>
        </p:txBody>
      </p:sp>
    </p:spTree>
  </p:cSld>
  <p:clrMapOvr>
    <a:masterClrMapping/>
  </p:clrMapOvr>
  <p:transition advClick="1"/>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CONCLUSION</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Conclusion: a working platform with clear research findings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20</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Thesis Chapters 4–6; saved evaluation artifacts and implementation audit</a:t>
            </a:r>
          </a:p>
        </p:txBody>
      </p:sp>
      <p:sp>
        <p:nvSpPr>
          <p:cNvPr id="10" name="Rectangle 9"/>
          <p:cNvSpPr/>
          <p:nvPr/>
        </p:nvSpPr>
        <p:spPr>
          <a:xfrm>
            <a:off x="594360" y="1828800"/>
            <a:ext cx="73152" cy="89611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2331720" cy="457200"/>
          </a:xfrm>
          <a:prstGeom prst="rect">
            <a:avLst/>
          </a:prstGeom>
          <a:noFill/>
        </p:spPr>
        <p:txBody>
          <a:bodyPr wrap="square" lIns="0" rIns="0" tIns="0" bIns="0">
            <a:spAutoFit/>
          </a:bodyPr>
          <a:lstStyle/>
          <a:p>
            <a:pPr>
              <a:spcAft>
                <a:spcPts val="700"/>
              </a:spcAft>
              <a:defRPr sz="2600" b="1">
                <a:solidFill>
                  <a:srgbClr val="1678AD"/>
                </a:solidFill>
                <a:latin typeface="Aptos"/>
              </a:defRPr>
            </a:pPr>
            <a:r>
              <a:t>Delivered</a:t>
            </a:r>
          </a:p>
        </p:txBody>
      </p:sp>
      <p:sp>
        <p:nvSpPr>
          <p:cNvPr id="12" name="TextBox 11"/>
          <p:cNvSpPr txBox="1"/>
          <p:nvPr/>
        </p:nvSpPr>
        <p:spPr>
          <a:xfrm>
            <a:off x="3474720" y="1837943"/>
            <a:ext cx="7863840" cy="914400"/>
          </a:xfrm>
          <a:prstGeom prst="rect">
            <a:avLst/>
          </a:prstGeom>
          <a:noFill/>
        </p:spPr>
        <p:txBody>
          <a:bodyPr wrap="square" lIns="0" rIns="0" tIns="0" bIns="0">
            <a:spAutoFit/>
          </a:bodyPr>
          <a:lstStyle/>
          <a:p>
            <a:pPr>
              <a:spcAft>
                <a:spcPts val="700"/>
              </a:spcAft>
              <a:defRPr sz="2500" b="0">
                <a:solidFill>
                  <a:srgbClr val="17344A"/>
                </a:solidFill>
                <a:latin typeface="Aptos"/>
              </a:defRPr>
            </a:pPr>
            <a:r>
              <a:t>A category-wise forecasting and explanation application.</a:t>
            </a:r>
          </a:p>
        </p:txBody>
      </p:sp>
      <p:sp>
        <p:nvSpPr>
          <p:cNvPr id="13" name="Rectangle 12"/>
          <p:cNvSpPr/>
          <p:nvPr/>
        </p:nvSpPr>
        <p:spPr>
          <a:xfrm>
            <a:off x="594360" y="3063240"/>
            <a:ext cx="73152" cy="89611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063240"/>
            <a:ext cx="2331720" cy="457200"/>
          </a:xfrm>
          <a:prstGeom prst="rect">
            <a:avLst/>
          </a:prstGeom>
          <a:noFill/>
        </p:spPr>
        <p:txBody>
          <a:bodyPr wrap="square" lIns="0" rIns="0" tIns="0" bIns="0">
            <a:spAutoFit/>
          </a:bodyPr>
          <a:lstStyle/>
          <a:p>
            <a:pPr>
              <a:spcAft>
                <a:spcPts val="700"/>
              </a:spcAft>
              <a:defRPr sz="2600" b="1">
                <a:solidFill>
                  <a:srgbClr val="1678AD"/>
                </a:solidFill>
                <a:latin typeface="Aptos"/>
              </a:defRPr>
            </a:pPr>
            <a:r>
              <a:t>Observed</a:t>
            </a:r>
          </a:p>
        </p:txBody>
      </p:sp>
      <p:sp>
        <p:nvSpPr>
          <p:cNvPr id="15" name="TextBox 14"/>
          <p:cNvSpPr txBox="1"/>
          <p:nvPr/>
        </p:nvSpPr>
        <p:spPr>
          <a:xfrm>
            <a:off x="3474720" y="3072384"/>
            <a:ext cx="7863840" cy="914400"/>
          </a:xfrm>
          <a:prstGeom prst="rect">
            <a:avLst/>
          </a:prstGeom>
          <a:noFill/>
        </p:spPr>
        <p:txBody>
          <a:bodyPr wrap="square" lIns="0" rIns="0" tIns="0" bIns="0">
            <a:spAutoFit/>
          </a:bodyPr>
          <a:lstStyle/>
          <a:p>
            <a:pPr>
              <a:spcAft>
                <a:spcPts val="700"/>
              </a:spcAft>
              <a:defRPr sz="2500" b="0">
                <a:solidFill>
                  <a:srgbClr val="17344A"/>
                </a:solidFill>
                <a:latin typeface="Aptos"/>
              </a:defRPr>
            </a:pPr>
            <a:r>
              <a:t>Stacking works; simple averaging is better in the new holdout.</a:t>
            </a:r>
          </a:p>
        </p:txBody>
      </p:sp>
      <p:sp>
        <p:nvSpPr>
          <p:cNvPr id="16" name="Rectangle 15"/>
          <p:cNvSpPr/>
          <p:nvPr/>
        </p:nvSpPr>
        <p:spPr>
          <a:xfrm>
            <a:off x="594360" y="4297680"/>
            <a:ext cx="73152" cy="89611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97680"/>
            <a:ext cx="2331720" cy="457200"/>
          </a:xfrm>
          <a:prstGeom prst="rect">
            <a:avLst/>
          </a:prstGeom>
          <a:noFill/>
        </p:spPr>
        <p:txBody>
          <a:bodyPr wrap="square" lIns="0" rIns="0" tIns="0" bIns="0">
            <a:spAutoFit/>
          </a:bodyPr>
          <a:lstStyle/>
          <a:p>
            <a:pPr>
              <a:spcAft>
                <a:spcPts val="700"/>
              </a:spcAft>
              <a:defRPr sz="2600" b="1">
                <a:solidFill>
                  <a:srgbClr val="1678AD"/>
                </a:solidFill>
                <a:latin typeface="Aptos"/>
              </a:defRPr>
            </a:pPr>
            <a:r>
              <a:t>Next</a:t>
            </a:r>
          </a:p>
        </p:txBody>
      </p:sp>
      <p:sp>
        <p:nvSpPr>
          <p:cNvPr id="18" name="TextBox 17"/>
          <p:cNvSpPr txBox="1"/>
          <p:nvPr/>
        </p:nvSpPr>
        <p:spPr>
          <a:xfrm>
            <a:off x="3474720" y="4306824"/>
            <a:ext cx="7863840" cy="914400"/>
          </a:xfrm>
          <a:prstGeom prst="rect">
            <a:avLst/>
          </a:prstGeom>
          <a:noFill/>
        </p:spPr>
        <p:txBody>
          <a:bodyPr wrap="square" lIns="0" rIns="0" tIns="0" bIns="0">
            <a:spAutoFit/>
          </a:bodyPr>
          <a:lstStyle/>
          <a:p>
            <a:pPr>
              <a:spcAft>
                <a:spcPts val="700"/>
              </a:spcAft>
              <a:defRPr sz="2500" b="0">
                <a:solidFill>
                  <a:srgbClr val="17344A"/>
                </a:solidFill>
                <a:latin typeface="Aptos"/>
              </a:defRPr>
            </a:pPr>
            <a:r>
              <a:t>Strengthen future-period validation and real pharmacy evaluation.</a:t>
            </a:r>
          </a:p>
        </p:txBody>
      </p:sp>
    </p:spTree>
  </p:cSld>
  <p:clrMapOvr>
    <a:masterClrMapping/>
  </p:clrMapOvr>
  <p:transition advClick="1"/>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REFERENCES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Selected references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21</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Local project paper; NeurIPS proceedings; International Journal of Forecasting; final thesis and repository</a:t>
            </a:r>
          </a:p>
        </p:txBody>
      </p:sp>
      <p:sp>
        <p:nvSpPr>
          <p:cNvPr id="10" name="TextBox 9"/>
          <p:cNvSpPr txBox="1"/>
          <p:nvPr/>
        </p:nvSpPr>
        <p:spPr>
          <a:xfrm>
            <a:off x="594360" y="1737360"/>
            <a:ext cx="594360" cy="457200"/>
          </a:xfrm>
          <a:prstGeom prst="rect">
            <a:avLst/>
          </a:prstGeom>
          <a:noFill/>
        </p:spPr>
        <p:txBody>
          <a:bodyPr wrap="square" lIns="0" rIns="0" tIns="0" bIns="0">
            <a:spAutoFit/>
          </a:bodyPr>
          <a:lstStyle/>
          <a:p>
            <a:pPr>
              <a:spcAft>
                <a:spcPts val="700"/>
              </a:spcAft>
              <a:defRPr sz="2100" b="1">
                <a:solidFill>
                  <a:srgbClr val="1678AD"/>
                </a:solidFill>
                <a:latin typeface="Aptos"/>
              </a:defRPr>
            </a:pPr>
            <a:r>
              <a:t>[1]</a:t>
            </a:r>
          </a:p>
        </p:txBody>
      </p:sp>
      <p:sp>
        <p:nvSpPr>
          <p:cNvPr id="11" name="TextBox 10"/>
          <p:cNvSpPr txBox="1"/>
          <p:nvPr/>
        </p:nvSpPr>
        <p:spPr>
          <a:xfrm>
            <a:off x="1280160" y="1737360"/>
            <a:ext cx="10241280" cy="941832"/>
          </a:xfrm>
          <a:prstGeom prst="rect">
            <a:avLst/>
          </a:prstGeom>
          <a:noFill/>
        </p:spPr>
        <p:txBody>
          <a:bodyPr wrap="square" lIns="0" rIns="0" tIns="0" bIns="0">
            <a:spAutoFit/>
          </a:bodyPr>
          <a:lstStyle/>
          <a:p>
            <a:pPr>
              <a:spcAft>
                <a:spcPts val="700"/>
              </a:spcAft>
              <a:defRPr sz="1800" b="0">
                <a:solidFill>
                  <a:srgbClr val="17344A"/>
                </a:solidFill>
                <a:latin typeface="Aptos"/>
              </a:defRPr>
            </a:pPr>
            <a:r>
              <a:t>S. B. Ekanayake, M. Nasmeen, G. Lakmal, P. Vimanshani and A. Perera. “Predicting medical drug sales in a specific area for categorical drugs using time series forecasting.” SCSE, 2025. Local project copy.</a:t>
            </a:r>
          </a:p>
        </p:txBody>
      </p:sp>
      <p:sp>
        <p:nvSpPr>
          <p:cNvPr id="12" name="TextBox 11"/>
          <p:cNvSpPr txBox="1"/>
          <p:nvPr/>
        </p:nvSpPr>
        <p:spPr>
          <a:xfrm>
            <a:off x="594360" y="2788920"/>
            <a:ext cx="594360" cy="457200"/>
          </a:xfrm>
          <a:prstGeom prst="rect">
            <a:avLst/>
          </a:prstGeom>
          <a:noFill/>
        </p:spPr>
        <p:txBody>
          <a:bodyPr wrap="square" lIns="0" rIns="0" tIns="0" bIns="0">
            <a:spAutoFit/>
          </a:bodyPr>
          <a:lstStyle/>
          <a:p>
            <a:pPr>
              <a:spcAft>
                <a:spcPts val="700"/>
              </a:spcAft>
              <a:defRPr sz="2100" b="1">
                <a:solidFill>
                  <a:srgbClr val="1678AD"/>
                </a:solidFill>
                <a:latin typeface="Aptos"/>
              </a:defRPr>
            </a:pPr>
            <a:r>
              <a:t>[2]</a:t>
            </a:r>
          </a:p>
        </p:txBody>
      </p:sp>
      <p:sp>
        <p:nvSpPr>
          <p:cNvPr id="13" name="TextBox 12"/>
          <p:cNvSpPr txBox="1"/>
          <p:nvPr/>
        </p:nvSpPr>
        <p:spPr>
          <a:xfrm>
            <a:off x="1280160" y="2788920"/>
            <a:ext cx="10241280" cy="941832"/>
          </a:xfrm>
          <a:prstGeom prst="rect">
            <a:avLst/>
          </a:prstGeom>
          <a:noFill/>
        </p:spPr>
        <p:txBody>
          <a:bodyPr wrap="square" lIns="0" rIns="0" tIns="0" bIns="0">
            <a:spAutoFit/>
          </a:bodyPr>
          <a:lstStyle/>
          <a:p>
            <a:pPr>
              <a:spcAft>
                <a:spcPts val="700"/>
              </a:spcAft>
              <a:defRPr sz="1800" b="0">
                <a:solidFill>
                  <a:srgbClr val="17344A"/>
                </a:solidFill>
                <a:latin typeface="Aptos"/>
              </a:defRPr>
            </a:pPr>
            <a:r>
              <a:rPr>
                <a:hlinkClick r:id="rId3"/>
              </a:rPr>
              <a:t>G. Ke et al. “LightGBM: A Highly Efficient Gradient Boosting Decision Tree.” Advances in Neural Information Processing Systems 30, 2017, pp. 3146–3154.</a:t>
            </a:r>
          </a:p>
        </p:txBody>
      </p:sp>
      <p:sp>
        <p:nvSpPr>
          <p:cNvPr id="14" name="TextBox 13"/>
          <p:cNvSpPr txBox="1"/>
          <p:nvPr/>
        </p:nvSpPr>
        <p:spPr>
          <a:xfrm>
            <a:off x="594360" y="3840479"/>
            <a:ext cx="594360" cy="457200"/>
          </a:xfrm>
          <a:prstGeom prst="rect">
            <a:avLst/>
          </a:prstGeom>
          <a:noFill/>
        </p:spPr>
        <p:txBody>
          <a:bodyPr wrap="square" lIns="0" rIns="0" tIns="0" bIns="0">
            <a:spAutoFit/>
          </a:bodyPr>
          <a:lstStyle/>
          <a:p>
            <a:pPr>
              <a:spcAft>
                <a:spcPts val="700"/>
              </a:spcAft>
              <a:defRPr sz="2100" b="1">
                <a:solidFill>
                  <a:srgbClr val="1678AD"/>
                </a:solidFill>
                <a:latin typeface="Aptos"/>
              </a:defRPr>
            </a:pPr>
            <a:r>
              <a:t>[3]</a:t>
            </a:r>
          </a:p>
        </p:txBody>
      </p:sp>
      <p:sp>
        <p:nvSpPr>
          <p:cNvPr id="15" name="TextBox 14"/>
          <p:cNvSpPr txBox="1"/>
          <p:nvPr/>
        </p:nvSpPr>
        <p:spPr>
          <a:xfrm>
            <a:off x="1280160" y="3840479"/>
            <a:ext cx="10241280" cy="941832"/>
          </a:xfrm>
          <a:prstGeom prst="rect">
            <a:avLst/>
          </a:prstGeom>
          <a:noFill/>
        </p:spPr>
        <p:txBody>
          <a:bodyPr wrap="square" lIns="0" rIns="0" tIns="0" bIns="0">
            <a:spAutoFit/>
          </a:bodyPr>
          <a:lstStyle/>
          <a:p>
            <a:pPr>
              <a:spcAft>
                <a:spcPts val="700"/>
              </a:spcAft>
              <a:defRPr sz="1800" b="0">
                <a:solidFill>
                  <a:srgbClr val="17344A"/>
                </a:solidFill>
                <a:latin typeface="Aptos"/>
              </a:defRPr>
            </a:pPr>
            <a:r>
              <a:rPr>
                <a:hlinkClick r:id="rId4"/>
              </a:rPr>
              <a:t>H. Hewamalage, C. Bergmeir and K. Bandara. “Recurrent Neural Networks for Time Series Forecasting: Current Status and Future Directions.” International Journal of Forecasting, 37(1), 2021, pp. 388–427.</a:t>
            </a:r>
          </a:p>
        </p:txBody>
      </p:sp>
      <p:sp>
        <p:nvSpPr>
          <p:cNvPr id="16" name="TextBox 15"/>
          <p:cNvSpPr txBox="1"/>
          <p:nvPr/>
        </p:nvSpPr>
        <p:spPr>
          <a:xfrm>
            <a:off x="594360" y="4892040"/>
            <a:ext cx="594360" cy="457200"/>
          </a:xfrm>
          <a:prstGeom prst="rect">
            <a:avLst/>
          </a:prstGeom>
          <a:noFill/>
        </p:spPr>
        <p:txBody>
          <a:bodyPr wrap="square" lIns="0" rIns="0" tIns="0" bIns="0">
            <a:spAutoFit/>
          </a:bodyPr>
          <a:lstStyle/>
          <a:p>
            <a:pPr>
              <a:spcAft>
                <a:spcPts val="700"/>
              </a:spcAft>
              <a:defRPr sz="2100" b="1">
                <a:solidFill>
                  <a:srgbClr val="1678AD"/>
                </a:solidFill>
                <a:latin typeface="Aptos"/>
              </a:defRPr>
            </a:pPr>
            <a:r>
              <a:t>[4]</a:t>
            </a:r>
          </a:p>
        </p:txBody>
      </p:sp>
      <p:sp>
        <p:nvSpPr>
          <p:cNvPr id="17" name="TextBox 16"/>
          <p:cNvSpPr txBox="1"/>
          <p:nvPr/>
        </p:nvSpPr>
        <p:spPr>
          <a:xfrm>
            <a:off x="1280160" y="4892040"/>
            <a:ext cx="10241280" cy="941832"/>
          </a:xfrm>
          <a:prstGeom prst="rect">
            <a:avLst/>
          </a:prstGeom>
          <a:noFill/>
        </p:spPr>
        <p:txBody>
          <a:bodyPr wrap="square" lIns="0" rIns="0" tIns="0" bIns="0">
            <a:spAutoFit/>
          </a:bodyPr>
          <a:lstStyle/>
          <a:p>
            <a:pPr>
              <a:spcAft>
                <a:spcPts val="700"/>
              </a:spcAft>
              <a:defRPr sz="1800" b="0">
                <a:solidFill>
                  <a:srgbClr val="17344A"/>
                </a:solidFill>
                <a:latin typeface="Aptos"/>
              </a:defRPr>
            </a:pPr>
            <a:r>
              <a:t>B. R. G. Lakmal. Final-year thesis, CS/2020/015, University of Kelaniya, 2026; accompanying source code, category CSVs and saved evaluation JSON files.</a:t>
            </a:r>
          </a:p>
        </p:txBody>
      </p:sp>
    </p:spTree>
  </p:cSld>
  <p:clrMapOvr>
    <a:masterClrMapping/>
  </p:clrMapOvr>
  <p:transition advClick="1"/>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ACKNOWLEDGEMENT &amp; QUESTIONS</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Thank you</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FINAL YEAR PROJECT  •  SEPTEMBER 2026</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22</a:t>
            </a:r>
          </a:p>
        </p:txBody>
      </p:sp>
      <p:sp>
        <p:nvSpPr>
          <p:cNvPr id="9" name="TextBox 8"/>
          <p:cNvSpPr txBox="1"/>
          <p:nvPr/>
        </p:nvSpPr>
        <p:spPr>
          <a:xfrm>
            <a:off x="640080" y="2258568"/>
            <a:ext cx="10881360" cy="914400"/>
          </a:xfrm>
          <a:prstGeom prst="rect">
            <a:avLst/>
          </a:prstGeom>
          <a:noFill/>
        </p:spPr>
        <p:txBody>
          <a:bodyPr wrap="square" lIns="0" rIns="0" tIns="0" bIns="0">
            <a:spAutoFit/>
          </a:bodyPr>
          <a:lstStyle/>
          <a:p>
            <a:pPr algn="ctr">
              <a:spcAft>
                <a:spcPts val="700"/>
              </a:spcAft>
              <a:defRPr sz="4400" b="1">
                <a:solidFill>
                  <a:srgbClr val="1678AD"/>
                </a:solidFill>
                <a:latin typeface="Aptos"/>
              </a:defRPr>
            </a:pPr>
            <a:r>
              <a:t>Questions &amp; discussion</a:t>
            </a:r>
          </a:p>
        </p:txBody>
      </p:sp>
      <p:sp>
        <p:nvSpPr>
          <p:cNvPr id="10" name="TextBox 9"/>
          <p:cNvSpPr txBox="1"/>
          <p:nvPr/>
        </p:nvSpPr>
        <p:spPr>
          <a:xfrm>
            <a:off x="640080" y="3566160"/>
            <a:ext cx="10881360" cy="548640"/>
          </a:xfrm>
          <a:prstGeom prst="rect">
            <a:avLst/>
          </a:prstGeom>
          <a:noFill/>
        </p:spPr>
        <p:txBody>
          <a:bodyPr wrap="square" lIns="0" rIns="0" tIns="0" bIns="0">
            <a:spAutoFit/>
          </a:bodyPr>
          <a:lstStyle/>
          <a:p>
            <a:pPr algn="ctr">
              <a:spcAft>
                <a:spcPts val="700"/>
              </a:spcAft>
              <a:defRPr sz="2500" b="1">
                <a:solidFill>
                  <a:srgbClr val="17344A"/>
                </a:solidFill>
                <a:latin typeface="Aptos"/>
              </a:defRPr>
            </a:pPr>
            <a:r>
              <a:t>Bope Ranasinghage Gihan Lakmal  •  CS/2020/015</a:t>
            </a:r>
          </a:p>
        </p:txBody>
      </p:sp>
      <p:sp>
        <p:nvSpPr>
          <p:cNvPr id="11" name="TextBox 10"/>
          <p:cNvSpPr txBox="1"/>
          <p:nvPr/>
        </p:nvSpPr>
        <p:spPr>
          <a:xfrm>
            <a:off x="1371600" y="4617720"/>
            <a:ext cx="9418320" cy="914400"/>
          </a:xfrm>
          <a:prstGeom prst="rect">
            <a:avLst/>
          </a:prstGeom>
          <a:noFill/>
        </p:spPr>
        <p:txBody>
          <a:bodyPr wrap="square" lIns="0" rIns="0" tIns="0" bIns="0">
            <a:spAutoFit/>
          </a:bodyPr>
          <a:lstStyle/>
          <a:p>
            <a:pPr algn="ctr">
              <a:spcAft>
                <a:spcPts val="700"/>
              </a:spcAft>
              <a:defRPr sz="2100" b="0">
                <a:solidFill>
                  <a:srgbClr val="526879"/>
                </a:solidFill>
                <a:latin typeface="Aptos"/>
              </a:defRPr>
            </a:pPr>
            <a:r>
              <a:t>With thanks to Prof. N. G. J. Dias</a:t>
            </a:r>
          </a:p>
          <a:p>
            <a:pPr algn="ctr">
              <a:spcAft>
                <a:spcPts val="700"/>
              </a:spcAft>
              <a:defRPr sz="2100" b="0">
                <a:solidFill>
                  <a:srgbClr val="526879"/>
                </a:solidFill>
                <a:latin typeface="Aptos"/>
              </a:defRPr>
            </a:pPr>
            <a:r>
              <a:t>and the Faculty of Computing and Technology, University of Kelaniya</a:t>
            </a:r>
          </a:p>
        </p:txBody>
      </p:sp>
    </p:spTree>
  </p:cSld>
  <p:clrMapOvr>
    <a:masterClrMapping/>
  </p:clrMapOvr>
  <p:transition advClick="1"/>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BACKUP A</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Complete recorded model metrics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Q&amp;A BACKUP</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23</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src/evaluation_results/performance_summary.json</a:t>
            </a:r>
          </a:p>
        </p:txBody>
      </p:sp>
      <p:sp>
        <p:nvSpPr>
          <p:cNvPr id="10" name="Rectangle 9"/>
          <p:cNvSpPr/>
          <p:nvPr/>
        </p:nvSpPr>
        <p:spPr>
          <a:xfrm>
            <a:off x="594360" y="1810512"/>
            <a:ext cx="2926080" cy="46634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01952"/>
            <a:ext cx="2715768" cy="374904"/>
          </a:xfrm>
          <a:prstGeom prst="rect">
            <a:avLst/>
          </a:prstGeom>
          <a:noFill/>
        </p:spPr>
        <p:txBody>
          <a:bodyPr wrap="square" lIns="0" rIns="0" tIns="0" bIns="0">
            <a:spAutoFit/>
          </a:bodyPr>
          <a:lstStyle/>
          <a:p>
            <a:pPr>
              <a:spcAft>
                <a:spcPts val="700"/>
              </a:spcAft>
              <a:defRPr sz="1800" b="1">
                <a:solidFill>
                  <a:srgbClr val="FFFFFF"/>
                </a:solidFill>
                <a:latin typeface="Aptos"/>
              </a:defRPr>
            </a:pPr>
            <a:r>
              <a:t>Model</a:t>
            </a:r>
          </a:p>
        </p:txBody>
      </p:sp>
      <p:sp>
        <p:nvSpPr>
          <p:cNvPr id="12" name="Rectangle 11"/>
          <p:cNvSpPr/>
          <p:nvPr/>
        </p:nvSpPr>
        <p:spPr>
          <a:xfrm>
            <a:off x="3520440" y="1810512"/>
            <a:ext cx="2011680" cy="46634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1901952"/>
            <a:ext cx="1801368" cy="374904"/>
          </a:xfrm>
          <a:prstGeom prst="rect">
            <a:avLst/>
          </a:prstGeom>
          <a:noFill/>
        </p:spPr>
        <p:txBody>
          <a:bodyPr wrap="square" lIns="0" rIns="0" tIns="0" bIns="0">
            <a:spAutoFit/>
          </a:bodyPr>
          <a:lstStyle/>
          <a:p>
            <a:pPr>
              <a:spcAft>
                <a:spcPts val="700"/>
              </a:spcAft>
              <a:defRPr sz="1800" b="1">
                <a:solidFill>
                  <a:srgbClr val="FFFFFF"/>
                </a:solidFill>
                <a:latin typeface="Aptos"/>
              </a:defRPr>
            </a:pPr>
            <a:r>
              <a:t>MAE</a:t>
            </a:r>
          </a:p>
        </p:txBody>
      </p:sp>
      <p:sp>
        <p:nvSpPr>
          <p:cNvPr id="14" name="Rectangle 13"/>
          <p:cNvSpPr/>
          <p:nvPr/>
        </p:nvSpPr>
        <p:spPr>
          <a:xfrm>
            <a:off x="5532120" y="1810512"/>
            <a:ext cx="2011680" cy="46634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41848" y="1901952"/>
            <a:ext cx="1801368" cy="374904"/>
          </a:xfrm>
          <a:prstGeom prst="rect">
            <a:avLst/>
          </a:prstGeom>
          <a:noFill/>
        </p:spPr>
        <p:txBody>
          <a:bodyPr wrap="square" lIns="0" rIns="0" tIns="0" bIns="0">
            <a:spAutoFit/>
          </a:bodyPr>
          <a:lstStyle/>
          <a:p>
            <a:pPr>
              <a:spcAft>
                <a:spcPts val="700"/>
              </a:spcAft>
              <a:defRPr sz="1800" b="1">
                <a:solidFill>
                  <a:srgbClr val="FFFFFF"/>
                </a:solidFill>
                <a:latin typeface="Aptos"/>
              </a:defRPr>
            </a:pPr>
            <a:r>
              <a:t>RMSE</a:t>
            </a:r>
          </a:p>
        </p:txBody>
      </p:sp>
      <p:sp>
        <p:nvSpPr>
          <p:cNvPr id="16" name="Rectangle 15"/>
          <p:cNvSpPr/>
          <p:nvPr/>
        </p:nvSpPr>
        <p:spPr>
          <a:xfrm>
            <a:off x="7543800" y="1810512"/>
            <a:ext cx="2011680" cy="46634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53527" y="1901952"/>
            <a:ext cx="1801368" cy="374904"/>
          </a:xfrm>
          <a:prstGeom prst="rect">
            <a:avLst/>
          </a:prstGeom>
          <a:noFill/>
        </p:spPr>
        <p:txBody>
          <a:bodyPr wrap="square" lIns="0" rIns="0" tIns="0" bIns="0">
            <a:spAutoFit/>
          </a:bodyPr>
          <a:lstStyle/>
          <a:p>
            <a:pPr>
              <a:spcAft>
                <a:spcPts val="700"/>
              </a:spcAft>
              <a:defRPr sz="1800" b="1">
                <a:solidFill>
                  <a:srgbClr val="FFFFFF"/>
                </a:solidFill>
                <a:latin typeface="Aptos"/>
              </a:defRPr>
            </a:pPr>
            <a:r>
              <a:t>MAPE (%)</a:t>
            </a:r>
          </a:p>
        </p:txBody>
      </p:sp>
      <p:sp>
        <p:nvSpPr>
          <p:cNvPr id="18" name="Rectangle 17"/>
          <p:cNvSpPr/>
          <p:nvPr/>
        </p:nvSpPr>
        <p:spPr>
          <a:xfrm>
            <a:off x="9555480" y="1810512"/>
            <a:ext cx="2011680" cy="46634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65207" y="1901952"/>
            <a:ext cx="1801368" cy="374904"/>
          </a:xfrm>
          <a:prstGeom prst="rect">
            <a:avLst/>
          </a:prstGeom>
          <a:noFill/>
        </p:spPr>
        <p:txBody>
          <a:bodyPr wrap="square" lIns="0" rIns="0" tIns="0" bIns="0">
            <a:spAutoFit/>
          </a:bodyPr>
          <a:lstStyle/>
          <a:p>
            <a:pPr>
              <a:spcAft>
                <a:spcPts val="700"/>
              </a:spcAft>
              <a:defRPr sz="1800" b="1">
                <a:solidFill>
                  <a:srgbClr val="FFFFFF"/>
                </a:solidFill>
                <a:latin typeface="Aptos"/>
              </a:defRPr>
            </a:pPr>
            <a:r>
              <a:t>Time (s)</a:t>
            </a:r>
          </a:p>
        </p:txBody>
      </p:sp>
      <p:sp>
        <p:nvSpPr>
          <p:cNvPr id="20" name="Rectangle 19"/>
          <p:cNvSpPr/>
          <p:nvPr/>
        </p:nvSpPr>
        <p:spPr>
          <a:xfrm>
            <a:off x="594360" y="2276856"/>
            <a:ext cx="29260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2368296"/>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LightGBM</a:t>
            </a:r>
          </a:p>
        </p:txBody>
      </p:sp>
      <p:sp>
        <p:nvSpPr>
          <p:cNvPr id="22" name="Rectangle 21"/>
          <p:cNvSpPr/>
          <p:nvPr/>
        </p:nvSpPr>
        <p:spPr>
          <a:xfrm>
            <a:off x="3520440" y="2276856"/>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2368296"/>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23.3728</a:t>
            </a:r>
          </a:p>
        </p:txBody>
      </p:sp>
      <p:sp>
        <p:nvSpPr>
          <p:cNvPr id="24" name="Rectangle 23"/>
          <p:cNvSpPr/>
          <p:nvPr/>
        </p:nvSpPr>
        <p:spPr>
          <a:xfrm>
            <a:off x="5532120" y="2276856"/>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41848" y="2368296"/>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28.9163</a:t>
            </a:r>
          </a:p>
        </p:txBody>
      </p:sp>
      <p:sp>
        <p:nvSpPr>
          <p:cNvPr id="26" name="Rectangle 25"/>
          <p:cNvSpPr/>
          <p:nvPr/>
        </p:nvSpPr>
        <p:spPr>
          <a:xfrm>
            <a:off x="7543800" y="2276856"/>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53527" y="2368296"/>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73.9233</a:t>
            </a:r>
          </a:p>
        </p:txBody>
      </p:sp>
      <p:sp>
        <p:nvSpPr>
          <p:cNvPr id="28" name="Rectangle 27"/>
          <p:cNvSpPr/>
          <p:nvPr/>
        </p:nvSpPr>
        <p:spPr>
          <a:xfrm>
            <a:off x="9555480" y="2276856"/>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65207" y="2368296"/>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0.1074</a:t>
            </a:r>
          </a:p>
        </p:txBody>
      </p:sp>
      <p:sp>
        <p:nvSpPr>
          <p:cNvPr id="30" name="Rectangle 29"/>
          <p:cNvSpPr/>
          <p:nvPr/>
        </p:nvSpPr>
        <p:spPr>
          <a:xfrm>
            <a:off x="594360" y="2743200"/>
            <a:ext cx="29260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2834640"/>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LSTM</a:t>
            </a:r>
          </a:p>
        </p:txBody>
      </p:sp>
      <p:sp>
        <p:nvSpPr>
          <p:cNvPr id="32" name="Rectangle 31"/>
          <p:cNvSpPr/>
          <p:nvPr/>
        </p:nvSpPr>
        <p:spPr>
          <a:xfrm>
            <a:off x="3520440" y="2743200"/>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0168" y="2834640"/>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24.0362</a:t>
            </a:r>
          </a:p>
        </p:txBody>
      </p:sp>
      <p:sp>
        <p:nvSpPr>
          <p:cNvPr id="34" name="Rectangle 33"/>
          <p:cNvSpPr/>
          <p:nvPr/>
        </p:nvSpPr>
        <p:spPr>
          <a:xfrm>
            <a:off x="5532120" y="2743200"/>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1848" y="2834640"/>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29.5830</a:t>
            </a:r>
          </a:p>
        </p:txBody>
      </p:sp>
      <p:sp>
        <p:nvSpPr>
          <p:cNvPr id="36" name="Rectangle 35"/>
          <p:cNvSpPr/>
          <p:nvPr/>
        </p:nvSpPr>
        <p:spPr>
          <a:xfrm>
            <a:off x="7543800" y="2743200"/>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53527" y="2834640"/>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62.6915</a:t>
            </a:r>
          </a:p>
        </p:txBody>
      </p:sp>
      <p:sp>
        <p:nvSpPr>
          <p:cNvPr id="38" name="Rectangle 37"/>
          <p:cNvSpPr/>
          <p:nvPr/>
        </p:nvSpPr>
        <p:spPr>
          <a:xfrm>
            <a:off x="9555480" y="2743200"/>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65207" y="2834640"/>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0.1260</a:t>
            </a:r>
          </a:p>
        </p:txBody>
      </p:sp>
      <p:sp>
        <p:nvSpPr>
          <p:cNvPr id="40" name="Rectangle 39"/>
          <p:cNvSpPr/>
          <p:nvPr/>
        </p:nvSpPr>
        <p:spPr>
          <a:xfrm>
            <a:off x="594360" y="3209544"/>
            <a:ext cx="29260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3300984"/>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GRU</a:t>
            </a:r>
          </a:p>
        </p:txBody>
      </p:sp>
      <p:sp>
        <p:nvSpPr>
          <p:cNvPr id="42" name="Rectangle 41"/>
          <p:cNvSpPr/>
          <p:nvPr/>
        </p:nvSpPr>
        <p:spPr>
          <a:xfrm>
            <a:off x="3520440" y="3209544"/>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30168" y="3300984"/>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24.1104</a:t>
            </a:r>
          </a:p>
        </p:txBody>
      </p:sp>
      <p:sp>
        <p:nvSpPr>
          <p:cNvPr id="44" name="Rectangle 43"/>
          <p:cNvSpPr/>
          <p:nvPr/>
        </p:nvSpPr>
        <p:spPr>
          <a:xfrm>
            <a:off x="5532120" y="3209544"/>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41848" y="3300984"/>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29.7559</a:t>
            </a:r>
          </a:p>
        </p:txBody>
      </p:sp>
      <p:sp>
        <p:nvSpPr>
          <p:cNvPr id="46" name="Rectangle 45"/>
          <p:cNvSpPr/>
          <p:nvPr/>
        </p:nvSpPr>
        <p:spPr>
          <a:xfrm>
            <a:off x="7543800" y="3209544"/>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53527" y="3300984"/>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63.9476</a:t>
            </a:r>
          </a:p>
        </p:txBody>
      </p:sp>
      <p:sp>
        <p:nvSpPr>
          <p:cNvPr id="48" name="Rectangle 47"/>
          <p:cNvSpPr/>
          <p:nvPr/>
        </p:nvSpPr>
        <p:spPr>
          <a:xfrm>
            <a:off x="9555480" y="3209544"/>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65207" y="3300984"/>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0.1067</a:t>
            </a:r>
          </a:p>
        </p:txBody>
      </p:sp>
      <p:sp>
        <p:nvSpPr>
          <p:cNvPr id="50" name="Rectangle 49"/>
          <p:cNvSpPr/>
          <p:nvPr/>
        </p:nvSpPr>
        <p:spPr>
          <a:xfrm>
            <a:off x="594360" y="3675887"/>
            <a:ext cx="29260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 y="3767327"/>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XGBoost</a:t>
            </a:r>
          </a:p>
        </p:txBody>
      </p:sp>
      <p:sp>
        <p:nvSpPr>
          <p:cNvPr id="52" name="Rectangle 51"/>
          <p:cNvSpPr/>
          <p:nvPr/>
        </p:nvSpPr>
        <p:spPr>
          <a:xfrm>
            <a:off x="3520440" y="3675887"/>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30168" y="3767327"/>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25.4679</a:t>
            </a:r>
          </a:p>
        </p:txBody>
      </p:sp>
      <p:sp>
        <p:nvSpPr>
          <p:cNvPr id="54" name="Rectangle 53"/>
          <p:cNvSpPr/>
          <p:nvPr/>
        </p:nvSpPr>
        <p:spPr>
          <a:xfrm>
            <a:off x="5532120" y="3675887"/>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41848" y="3767327"/>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29.9704</a:t>
            </a:r>
          </a:p>
        </p:txBody>
      </p:sp>
      <p:sp>
        <p:nvSpPr>
          <p:cNvPr id="56" name="Rectangle 55"/>
          <p:cNvSpPr/>
          <p:nvPr/>
        </p:nvSpPr>
        <p:spPr>
          <a:xfrm>
            <a:off x="7543800" y="3675887"/>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653527" y="3767327"/>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86.4031</a:t>
            </a:r>
          </a:p>
        </p:txBody>
      </p:sp>
      <p:sp>
        <p:nvSpPr>
          <p:cNvPr id="58" name="Rectangle 57"/>
          <p:cNvSpPr/>
          <p:nvPr/>
        </p:nvSpPr>
        <p:spPr>
          <a:xfrm>
            <a:off x="9555480" y="3675887"/>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65207" y="3767327"/>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0.0343</a:t>
            </a:r>
          </a:p>
        </p:txBody>
      </p:sp>
      <p:sp>
        <p:nvSpPr>
          <p:cNvPr id="60" name="Rectangle 59"/>
          <p:cNvSpPr/>
          <p:nvPr/>
        </p:nvSpPr>
        <p:spPr>
          <a:xfrm>
            <a:off x="594360" y="4142231"/>
            <a:ext cx="29260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 y="4233671"/>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Transformer</a:t>
            </a:r>
          </a:p>
        </p:txBody>
      </p:sp>
      <p:sp>
        <p:nvSpPr>
          <p:cNvPr id="62" name="Rectangle 61"/>
          <p:cNvSpPr/>
          <p:nvPr/>
        </p:nvSpPr>
        <p:spPr>
          <a:xfrm>
            <a:off x="3520440" y="4142231"/>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630168" y="4233671"/>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28.8908</a:t>
            </a:r>
          </a:p>
        </p:txBody>
      </p:sp>
      <p:sp>
        <p:nvSpPr>
          <p:cNvPr id="64" name="Rectangle 63"/>
          <p:cNvSpPr/>
          <p:nvPr/>
        </p:nvSpPr>
        <p:spPr>
          <a:xfrm>
            <a:off x="5532120" y="4142231"/>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41848" y="4233671"/>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36.5221</a:t>
            </a:r>
          </a:p>
        </p:txBody>
      </p:sp>
      <p:sp>
        <p:nvSpPr>
          <p:cNvPr id="66" name="Rectangle 65"/>
          <p:cNvSpPr/>
          <p:nvPr/>
        </p:nvSpPr>
        <p:spPr>
          <a:xfrm>
            <a:off x="7543800" y="4142231"/>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653527" y="4233671"/>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53.6691</a:t>
            </a:r>
          </a:p>
        </p:txBody>
      </p:sp>
      <p:sp>
        <p:nvSpPr>
          <p:cNvPr id="68" name="Rectangle 67"/>
          <p:cNvSpPr/>
          <p:nvPr/>
        </p:nvSpPr>
        <p:spPr>
          <a:xfrm>
            <a:off x="9555480" y="4142231"/>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65207" y="4233671"/>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0.2426</a:t>
            </a:r>
          </a:p>
        </p:txBody>
      </p:sp>
      <p:sp>
        <p:nvSpPr>
          <p:cNvPr id="70" name="Rectangle 69"/>
          <p:cNvSpPr/>
          <p:nvPr/>
        </p:nvSpPr>
        <p:spPr>
          <a:xfrm>
            <a:off x="594360" y="4608575"/>
            <a:ext cx="29260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4088" y="4700015"/>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SARIMAX</a:t>
            </a:r>
          </a:p>
        </p:txBody>
      </p:sp>
      <p:sp>
        <p:nvSpPr>
          <p:cNvPr id="72" name="Rectangle 71"/>
          <p:cNvSpPr/>
          <p:nvPr/>
        </p:nvSpPr>
        <p:spPr>
          <a:xfrm>
            <a:off x="3520440" y="4608575"/>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30168" y="4700015"/>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30.4946</a:t>
            </a:r>
          </a:p>
        </p:txBody>
      </p:sp>
      <p:sp>
        <p:nvSpPr>
          <p:cNvPr id="74" name="Rectangle 73"/>
          <p:cNvSpPr/>
          <p:nvPr/>
        </p:nvSpPr>
        <p:spPr>
          <a:xfrm>
            <a:off x="5532120" y="4608575"/>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641848" y="4700015"/>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38.4108</a:t>
            </a:r>
          </a:p>
        </p:txBody>
      </p:sp>
      <p:sp>
        <p:nvSpPr>
          <p:cNvPr id="76" name="Rectangle 75"/>
          <p:cNvSpPr/>
          <p:nvPr/>
        </p:nvSpPr>
        <p:spPr>
          <a:xfrm>
            <a:off x="7543800" y="4608575"/>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653527" y="4700015"/>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56.0618</a:t>
            </a:r>
          </a:p>
        </p:txBody>
      </p:sp>
      <p:sp>
        <p:nvSpPr>
          <p:cNvPr id="78" name="Rectangle 77"/>
          <p:cNvSpPr/>
          <p:nvPr/>
        </p:nvSpPr>
        <p:spPr>
          <a:xfrm>
            <a:off x="9555480" y="4608575"/>
            <a:ext cx="2011680" cy="4663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665207" y="4700015"/>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0.1498</a:t>
            </a:r>
          </a:p>
        </p:txBody>
      </p:sp>
      <p:sp>
        <p:nvSpPr>
          <p:cNvPr id="80" name="Rectangle 79"/>
          <p:cNvSpPr/>
          <p:nvPr/>
        </p:nvSpPr>
        <p:spPr>
          <a:xfrm>
            <a:off x="594360" y="5074919"/>
            <a:ext cx="29260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04088" y="5166359"/>
            <a:ext cx="27157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Prophet</a:t>
            </a:r>
          </a:p>
        </p:txBody>
      </p:sp>
      <p:sp>
        <p:nvSpPr>
          <p:cNvPr id="82" name="Rectangle 81"/>
          <p:cNvSpPr/>
          <p:nvPr/>
        </p:nvSpPr>
        <p:spPr>
          <a:xfrm>
            <a:off x="3520440" y="5074919"/>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630168" y="5166359"/>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32.5682</a:t>
            </a:r>
          </a:p>
        </p:txBody>
      </p:sp>
      <p:sp>
        <p:nvSpPr>
          <p:cNvPr id="84" name="Rectangle 83"/>
          <p:cNvSpPr/>
          <p:nvPr/>
        </p:nvSpPr>
        <p:spPr>
          <a:xfrm>
            <a:off x="5532120" y="5074919"/>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41848" y="5166359"/>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37.6763</a:t>
            </a:r>
          </a:p>
        </p:txBody>
      </p:sp>
      <p:sp>
        <p:nvSpPr>
          <p:cNvPr id="86" name="Rectangle 85"/>
          <p:cNvSpPr/>
          <p:nvPr/>
        </p:nvSpPr>
        <p:spPr>
          <a:xfrm>
            <a:off x="7543800" y="5074919"/>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653527" y="5166359"/>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88.0285</a:t>
            </a:r>
          </a:p>
        </p:txBody>
      </p:sp>
      <p:sp>
        <p:nvSpPr>
          <p:cNvPr id="88" name="Rectangle 87"/>
          <p:cNvSpPr/>
          <p:nvPr/>
        </p:nvSpPr>
        <p:spPr>
          <a:xfrm>
            <a:off x="9555480" y="5074919"/>
            <a:ext cx="2011680" cy="46634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665207" y="5166359"/>
            <a:ext cx="1801368" cy="374904"/>
          </a:xfrm>
          <a:prstGeom prst="rect">
            <a:avLst/>
          </a:prstGeom>
          <a:noFill/>
        </p:spPr>
        <p:txBody>
          <a:bodyPr wrap="square" lIns="0" rIns="0" tIns="0" bIns="0">
            <a:spAutoFit/>
          </a:bodyPr>
          <a:lstStyle/>
          <a:p>
            <a:pPr>
              <a:spcAft>
                <a:spcPts val="700"/>
              </a:spcAft>
              <a:defRPr sz="1800" b="0">
                <a:solidFill>
                  <a:srgbClr val="17344A"/>
                </a:solidFill>
                <a:latin typeface="Aptos"/>
              </a:defRPr>
            </a:pPr>
            <a:r>
              <a:t>0.8725</a:t>
            </a:r>
          </a:p>
        </p:txBody>
      </p:sp>
      <p:sp>
        <p:nvSpPr>
          <p:cNvPr id="90" name="Rounded Rectangle 89"/>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XGBoost has the lowest recorded mean time (0.0343 s); current paths and hardware may differ.</a:t>
            </a:r>
          </a:p>
        </p:txBody>
      </p:sp>
    </p:spTree>
  </p:cSld>
  <p:clrMapOvr>
    <a:masterClrMapping/>
  </p:clrMapOvr>
  <p:transition advClick="1"/>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BACKUP B</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Implementation defaults and category mapping</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Q&amp;A BACKUP</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24</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src/models/; data/raw/pharama weekly sales copy.csv and C1.csv–C8.csv</a:t>
            </a:r>
          </a:p>
        </p:txBody>
      </p:sp>
      <p:sp>
        <p:nvSpPr>
          <p:cNvPr id="10" name="Rectangle 9"/>
          <p:cNvSpPr/>
          <p:nvPr/>
        </p:nvSpPr>
        <p:spPr>
          <a:xfrm>
            <a:off x="594360" y="1764792"/>
            <a:ext cx="3017520" cy="60350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856231"/>
            <a:ext cx="2807208" cy="512064"/>
          </a:xfrm>
          <a:prstGeom prst="rect">
            <a:avLst/>
          </a:prstGeom>
          <a:noFill/>
        </p:spPr>
        <p:txBody>
          <a:bodyPr wrap="square" lIns="0" rIns="0" tIns="0" bIns="0">
            <a:spAutoFit/>
          </a:bodyPr>
          <a:lstStyle/>
          <a:p>
            <a:pPr>
              <a:spcAft>
                <a:spcPts val="700"/>
              </a:spcAft>
              <a:defRPr sz="1800" b="1">
                <a:solidFill>
                  <a:srgbClr val="FFFFFF"/>
                </a:solidFill>
                <a:latin typeface="Aptos"/>
              </a:defRPr>
            </a:pPr>
            <a:r>
              <a:t>Model</a:t>
            </a:r>
          </a:p>
        </p:txBody>
      </p:sp>
      <p:sp>
        <p:nvSpPr>
          <p:cNvPr id="12" name="Rectangle 11"/>
          <p:cNvSpPr/>
          <p:nvPr/>
        </p:nvSpPr>
        <p:spPr>
          <a:xfrm>
            <a:off x="3611879" y="1764792"/>
            <a:ext cx="7955279" cy="603504"/>
          </a:xfrm>
          <a:prstGeom prst="rect">
            <a:avLst/>
          </a:prstGeom>
          <a:solidFill>
            <a:srgbClr val="102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1607" y="1856231"/>
            <a:ext cx="7744967" cy="512064"/>
          </a:xfrm>
          <a:prstGeom prst="rect">
            <a:avLst/>
          </a:prstGeom>
          <a:noFill/>
        </p:spPr>
        <p:txBody>
          <a:bodyPr wrap="square" lIns="0" rIns="0" tIns="0" bIns="0">
            <a:spAutoFit/>
          </a:bodyPr>
          <a:lstStyle/>
          <a:p>
            <a:pPr>
              <a:spcAft>
                <a:spcPts val="700"/>
              </a:spcAft>
              <a:defRPr sz="1800" b="1">
                <a:solidFill>
                  <a:srgbClr val="FFFFFF"/>
                </a:solidFill>
                <a:latin typeface="Aptos"/>
              </a:defRPr>
            </a:pPr>
            <a:r>
              <a:t>Current default</a:t>
            </a:r>
          </a:p>
        </p:txBody>
      </p:sp>
      <p:sp>
        <p:nvSpPr>
          <p:cNvPr id="14" name="Rectangle 13"/>
          <p:cNvSpPr/>
          <p:nvPr/>
        </p:nvSpPr>
        <p:spPr>
          <a:xfrm>
            <a:off x="594360" y="2368296"/>
            <a:ext cx="3017520" cy="60350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459736"/>
            <a:ext cx="2807208"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XGBoost</a:t>
            </a:r>
          </a:p>
        </p:txBody>
      </p:sp>
      <p:sp>
        <p:nvSpPr>
          <p:cNvPr id="16" name="Rectangle 15"/>
          <p:cNvSpPr/>
          <p:nvPr/>
        </p:nvSpPr>
        <p:spPr>
          <a:xfrm>
            <a:off x="3611879" y="2368296"/>
            <a:ext cx="7955279" cy="60350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1607" y="2459736"/>
            <a:ext cx="7744967"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5 lags; squared-error objective; 100 rounds</a:t>
            </a:r>
          </a:p>
        </p:txBody>
      </p:sp>
      <p:sp>
        <p:nvSpPr>
          <p:cNvPr id="18" name="Rectangle 17"/>
          <p:cNvSpPr/>
          <p:nvPr/>
        </p:nvSpPr>
        <p:spPr>
          <a:xfrm>
            <a:off x="594360" y="2971800"/>
            <a:ext cx="301752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063240"/>
            <a:ext cx="2807208"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LightGBM</a:t>
            </a:r>
          </a:p>
        </p:txBody>
      </p:sp>
      <p:sp>
        <p:nvSpPr>
          <p:cNvPr id="20" name="Rectangle 19"/>
          <p:cNvSpPr/>
          <p:nvPr/>
        </p:nvSpPr>
        <p:spPr>
          <a:xfrm>
            <a:off x="3611879" y="2971800"/>
            <a:ext cx="7955279"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21607" y="3063240"/>
            <a:ext cx="7744967"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5 lags; 31 leaves; lr 0.05; 100 rounds</a:t>
            </a:r>
          </a:p>
        </p:txBody>
      </p:sp>
      <p:sp>
        <p:nvSpPr>
          <p:cNvPr id="22" name="Rectangle 21"/>
          <p:cNvSpPr/>
          <p:nvPr/>
        </p:nvSpPr>
        <p:spPr>
          <a:xfrm>
            <a:off x="594360" y="3575304"/>
            <a:ext cx="3017520" cy="60350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666744"/>
            <a:ext cx="2807208"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LSTM / GRU</a:t>
            </a:r>
          </a:p>
        </p:txBody>
      </p:sp>
      <p:sp>
        <p:nvSpPr>
          <p:cNvPr id="24" name="Rectangle 23"/>
          <p:cNvSpPr/>
          <p:nvPr/>
        </p:nvSpPr>
        <p:spPr>
          <a:xfrm>
            <a:off x="3611879" y="3575304"/>
            <a:ext cx="7955279" cy="603504"/>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21607" y="3666744"/>
            <a:ext cx="7744967"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10 steps; 2 layers; hidden 64; dropout 0.1</a:t>
            </a:r>
          </a:p>
        </p:txBody>
      </p:sp>
      <p:sp>
        <p:nvSpPr>
          <p:cNvPr id="26" name="Rectangle 25"/>
          <p:cNvSpPr/>
          <p:nvPr/>
        </p:nvSpPr>
        <p:spPr>
          <a:xfrm>
            <a:off x="594360" y="4178808"/>
            <a:ext cx="301752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270248"/>
            <a:ext cx="2807208"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Transformer</a:t>
            </a:r>
          </a:p>
        </p:txBody>
      </p:sp>
      <p:sp>
        <p:nvSpPr>
          <p:cNvPr id="28" name="Rectangle 27"/>
          <p:cNvSpPr/>
          <p:nvPr/>
        </p:nvSpPr>
        <p:spPr>
          <a:xfrm>
            <a:off x="3611879" y="4178808"/>
            <a:ext cx="7955279"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21607" y="4270248"/>
            <a:ext cx="7744967" cy="512064"/>
          </a:xfrm>
          <a:prstGeom prst="rect">
            <a:avLst/>
          </a:prstGeom>
          <a:noFill/>
        </p:spPr>
        <p:txBody>
          <a:bodyPr wrap="square" lIns="0" rIns="0" tIns="0" bIns="0">
            <a:spAutoFit/>
          </a:bodyPr>
          <a:lstStyle/>
          <a:p>
            <a:pPr>
              <a:spcAft>
                <a:spcPts val="700"/>
              </a:spcAft>
              <a:defRPr sz="1800" b="0">
                <a:solidFill>
                  <a:srgbClr val="17344A"/>
                </a:solidFill>
                <a:latin typeface="Aptos"/>
              </a:defRPr>
            </a:pPr>
            <a:r>
              <a:t>10 steps; d=64; 4 heads; 2 encoder layers</a:t>
            </a:r>
          </a:p>
        </p:txBody>
      </p:sp>
      <p:sp>
        <p:nvSpPr>
          <p:cNvPr id="30" name="TextBox 29"/>
          <p:cNvSpPr txBox="1"/>
          <p:nvPr/>
        </p:nvSpPr>
        <p:spPr>
          <a:xfrm>
            <a:off x="731520" y="5010912"/>
            <a:ext cx="10789920" cy="1097280"/>
          </a:xfrm>
          <a:prstGeom prst="rect">
            <a:avLst/>
          </a:prstGeom>
          <a:noFill/>
        </p:spPr>
        <p:txBody>
          <a:bodyPr wrap="square" lIns="0" rIns="0" tIns="0" bIns="0">
            <a:spAutoFit/>
          </a:bodyPr>
          <a:lstStyle/>
          <a:p>
            <a:pPr>
              <a:spcAft>
                <a:spcPts val="700"/>
              </a:spcAft>
              <a:defRPr sz="2300" b="1">
                <a:solidFill>
                  <a:srgbClr val="1678AD"/>
                </a:solidFill>
                <a:latin typeface="Aptos"/>
              </a:defRPr>
            </a:pPr>
            <a:r>
              <a:t>C1 → M01AB    C2 → M01AE    C3 → N02BA    C4 → N02BE</a:t>
            </a:r>
          </a:p>
          <a:p>
            <a:pPr>
              <a:spcAft>
                <a:spcPts val="700"/>
              </a:spcAft>
              <a:defRPr sz="2300" b="1">
                <a:solidFill>
                  <a:srgbClr val="1678AD"/>
                </a:solidFill>
                <a:latin typeface="Aptos"/>
              </a:defRPr>
            </a:pPr>
            <a:r>
              <a:t>C5 → N05B      C6 → N05C       C7 → R03         C8 → R06</a:t>
            </a:r>
          </a:p>
        </p:txBody>
      </p:sp>
    </p:spTree>
  </p:cSld>
  <p:clrMapOvr>
    <a:masterClrMapping/>
  </p:clrMapOvr>
  <p:transition advClick="1"/>
</p:sld>
</file>

<file path=ppt/slides/slide2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BACKUP C</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How to interpret the evaluation limitation</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Q&amp;A BACKUP</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25</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src/evaluation/model_evaluation.py lines 42–80; model-specific forecast functions</a:t>
            </a:r>
          </a:p>
        </p:txBody>
      </p:sp>
      <p:sp>
        <p:nvSpPr>
          <p:cNvPr id="10" name="Rounded Rectangle 9"/>
          <p:cNvSpPr/>
          <p:nvPr/>
        </p:nvSpPr>
        <p:spPr>
          <a:xfrm>
            <a:off x="594360" y="1792224"/>
            <a:ext cx="5367528" cy="352044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56816"/>
            <a:ext cx="4965192"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Available evaluator</a:t>
            </a:r>
          </a:p>
        </p:txBody>
      </p:sp>
      <p:sp>
        <p:nvSpPr>
          <p:cNvPr id="12" name="TextBox 11"/>
          <p:cNvSpPr txBox="1"/>
          <p:nvPr/>
        </p:nvSpPr>
        <p:spPr>
          <a:xfrm>
            <a:off x="795528" y="2587752"/>
            <a:ext cx="4965192" cy="2651760"/>
          </a:xfrm>
          <a:prstGeom prst="rect">
            <a:avLst/>
          </a:prstGeom>
          <a:noFill/>
        </p:spPr>
        <p:txBody>
          <a:bodyPr wrap="square" lIns="0" rIns="0" tIns="0" bIns="0">
            <a:spAutoFit/>
          </a:bodyPr>
          <a:lstStyle/>
          <a:p>
            <a:pPr>
              <a:spcAft>
                <a:spcPts val="700"/>
              </a:spcAft>
              <a:defRPr sz="2100" b="0">
                <a:solidFill>
                  <a:srgbClr val="17344A"/>
                </a:solidFill>
                <a:latin typeface="Aptos"/>
              </a:defRPr>
            </a:pPr>
            <a:r>
              <a:t>Targets: final 10 actual observations</a:t>
            </a:r>
          </a:p>
          <a:p>
            <a:pPr>
              <a:spcAft>
                <a:spcPts val="700"/>
              </a:spcAft>
              <a:defRPr sz="2100" b="0">
                <a:solidFill>
                  <a:srgbClr val="17344A"/>
                </a:solidFill>
                <a:latin typeface="Aptos"/>
              </a:defRPr>
            </a:pPr>
            <a:r>
              <a:t>Some predictions: beyond the full series</a:t>
            </a:r>
          </a:p>
          <a:p>
            <a:pPr>
              <a:spcAft>
                <a:spcPts val="700"/>
              </a:spcAft>
              <a:defRPr sz="2100" b="0">
                <a:solidFill>
                  <a:srgbClr val="17344A"/>
                </a:solidFill>
                <a:latin typeface="Aptos"/>
              </a:defRPr>
            </a:pPr>
            <a:r>
              <a:t>SARIMAX: fit on the full series</a:t>
            </a:r>
          </a:p>
          <a:p>
            <a:pPr>
              <a:spcAft>
                <a:spcPts val="700"/>
              </a:spcAft>
              <a:defRPr sz="2100" b="0">
                <a:solidFill>
                  <a:srgbClr val="17344A"/>
                </a:solidFill>
                <a:latin typeface="Aptos"/>
              </a:defRPr>
            </a:pPr>
            <a:r>
              <a:t>Result: no common verified holdout</a:t>
            </a:r>
          </a:p>
        </p:txBody>
      </p:sp>
      <p:sp>
        <p:nvSpPr>
          <p:cNvPr id="13" name="Rounded Rectangle 12"/>
          <p:cNvSpPr/>
          <p:nvPr/>
        </p:nvSpPr>
        <p:spPr>
          <a:xfrm>
            <a:off x="6217920" y="1792224"/>
            <a:ext cx="5367528" cy="3520440"/>
          </a:xfrm>
          <a:prstGeom prst="roundRect">
            <a:avLst>
              <a:gd name="adj" fmla="val 12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956816"/>
            <a:ext cx="4965192" cy="502920"/>
          </a:xfrm>
          <a:prstGeom prst="rect">
            <a:avLst/>
          </a:prstGeom>
          <a:noFill/>
        </p:spPr>
        <p:txBody>
          <a:bodyPr wrap="square" lIns="0" rIns="0" tIns="0" bIns="0">
            <a:spAutoFit/>
          </a:bodyPr>
          <a:lstStyle/>
          <a:p>
            <a:pPr>
              <a:spcAft>
                <a:spcPts val="700"/>
              </a:spcAft>
              <a:defRPr sz="2300" b="1">
                <a:solidFill>
                  <a:srgbClr val="1678AD"/>
                </a:solidFill>
                <a:latin typeface="Aptos"/>
              </a:defRPr>
            </a:pPr>
            <a:r>
              <a:t>Required validation design</a:t>
            </a:r>
          </a:p>
        </p:txBody>
      </p:sp>
      <p:sp>
        <p:nvSpPr>
          <p:cNvPr id="15" name="TextBox 14"/>
          <p:cNvSpPr txBox="1"/>
          <p:nvPr/>
        </p:nvSpPr>
        <p:spPr>
          <a:xfrm>
            <a:off x="6419088" y="2587752"/>
            <a:ext cx="4965192" cy="2651760"/>
          </a:xfrm>
          <a:prstGeom prst="rect">
            <a:avLst/>
          </a:prstGeom>
          <a:noFill/>
        </p:spPr>
        <p:txBody>
          <a:bodyPr wrap="square" lIns="0" rIns="0" tIns="0" bIns="0">
            <a:spAutoFit/>
          </a:bodyPr>
          <a:lstStyle/>
          <a:p>
            <a:pPr>
              <a:spcAft>
                <a:spcPts val="700"/>
              </a:spcAft>
              <a:defRPr sz="2100" b="0">
                <a:solidFill>
                  <a:srgbClr val="17344A"/>
                </a:solidFill>
                <a:latin typeface="Aptos"/>
              </a:defRPr>
            </a:pPr>
            <a:r>
              <a:t>Choose a chronological cutoff</a:t>
            </a:r>
          </a:p>
          <a:p>
            <a:pPr>
              <a:spcAft>
                <a:spcPts val="700"/>
              </a:spcAft>
              <a:defRPr sz="2100" b="0">
                <a:solidFill>
                  <a:srgbClr val="17344A"/>
                </a:solidFill>
                <a:latin typeface="Aptos"/>
              </a:defRPr>
            </a:pPr>
            <a:r>
              <a:t>Fit models / scalers on earlier data</a:t>
            </a:r>
          </a:p>
          <a:p>
            <a:pPr>
              <a:spcAft>
                <a:spcPts val="700"/>
              </a:spcAft>
              <a:defRPr sz="2100" b="0">
                <a:solidFill>
                  <a:srgbClr val="17344A"/>
                </a:solidFill>
                <a:latin typeface="Aptos"/>
              </a:defRPr>
            </a:pPr>
            <a:r>
              <a:t>Forecast the same future weeks</a:t>
            </a:r>
          </a:p>
          <a:p>
            <a:pPr>
              <a:spcAft>
                <a:spcPts val="700"/>
              </a:spcAft>
              <a:defRPr sz="2100" b="0">
                <a:solidFill>
                  <a:srgbClr val="17344A"/>
                </a:solidFill>
                <a:latin typeface="Aptos"/>
              </a:defRPr>
            </a:pPr>
            <a:r>
              <a:t>Compare aligned actuals; repeat origins</a:t>
            </a:r>
          </a:p>
        </p:txBody>
      </p:sp>
      <p:sp>
        <p:nvSpPr>
          <p:cNvPr id="16" name="Rounded Rectangle 15"/>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Keep the archived results as recorded evidence; rerun a corrected protocol before stronger accuracy claims.</a:t>
            </a:r>
          </a:p>
        </p:txBody>
      </p:sp>
    </p:spTree>
  </p:cSld>
  <p:clrMapOvr>
    <a:masterClrMapping/>
  </p:clrMapOvr>
  <p:transition advClick="1"/>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BACKUP D</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Dataset profiles: different scales and demand patterns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Q&amp;A BACKUP</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26</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data/raw/C1.csv, C4.csv, C6.csv</a:t>
            </a:r>
          </a:p>
        </p:txBody>
      </p:sp>
      <p:pic>
        <p:nvPicPr>
          <p:cNvPr id="10" name="Picture 9" descr="dataset_profiles.png"/>
          <p:cNvPicPr>
            <a:picLocks noChangeAspect="1"/>
          </p:cNvPicPr>
          <p:nvPr/>
        </p:nvPicPr>
        <p:blipFill>
          <a:blip r:embed="rId3"/>
          <a:stretch>
            <a:fillRect/>
          </a:stretch>
        </p:blipFill>
        <p:spPr>
          <a:xfrm>
            <a:off x="952910" y="1673352"/>
            <a:ext cx="10273987" cy="4361688"/>
          </a:xfrm>
          <a:prstGeom prst="rect">
            <a:avLst/>
          </a:prstGeom>
        </p:spPr>
      </p:pic>
    </p:spTree>
  </p:cSld>
  <p:clrMapOvr>
    <a:masterClrMapping/>
  </p:clrMapOvr>
  <p:transition advClick="1"/>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969" cy="118872"/>
          </a:xfrm>
          <a:prstGeom prst="rect">
            <a:avLst/>
          </a:prstGeom>
          <a:solidFill>
            <a:srgbClr val="1678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058400" cy="256032"/>
          </a:xfrm>
          <a:prstGeom prst="rect">
            <a:avLst/>
          </a:prstGeom>
          <a:noFill/>
        </p:spPr>
        <p:txBody>
          <a:bodyPr wrap="square" lIns="0" rIns="0" tIns="0" bIns="0">
            <a:spAutoFit/>
          </a:bodyPr>
          <a:lstStyle/>
          <a:p>
            <a:pPr>
              <a:spcAft>
                <a:spcPts val="700"/>
              </a:spcAft>
              <a:defRPr sz="1200" b="1">
                <a:solidFill>
                  <a:srgbClr val="1678AD"/>
                </a:solidFill>
                <a:latin typeface="Aptos"/>
              </a:defRPr>
            </a:pPr>
            <a:r>
              <a:t>BACKUP E</a:t>
            </a:r>
          </a:p>
        </p:txBody>
      </p:sp>
      <p:sp>
        <p:nvSpPr>
          <p:cNvPr id="4" name="TextBox 3"/>
          <p:cNvSpPr txBox="1"/>
          <p:nvPr/>
        </p:nvSpPr>
        <p:spPr>
          <a:xfrm>
            <a:off x="502920" y="731520"/>
            <a:ext cx="11173968" cy="786384"/>
          </a:xfrm>
          <a:prstGeom prst="rect">
            <a:avLst/>
          </a:prstGeom>
          <a:noFill/>
        </p:spPr>
        <p:txBody>
          <a:bodyPr wrap="square" lIns="0" rIns="0" tIns="0" bIns="0">
            <a:spAutoFit/>
          </a:bodyPr>
          <a:lstStyle/>
          <a:p>
            <a:pPr>
              <a:spcAft>
                <a:spcPts val="700"/>
              </a:spcAft>
              <a:defRPr sz="3200" b="1">
                <a:solidFill>
                  <a:srgbClr val="102F4A"/>
                </a:solidFill>
                <a:latin typeface="Aptos"/>
              </a:defRPr>
            </a:pPr>
            <a:r>
              <a:t>Demonstration fallback: saved project screens</a:t>
            </a:r>
          </a:p>
        </p:txBody>
      </p:sp>
      <p:sp>
        <p:nvSpPr>
          <p:cNvPr id="5" name="Rectangle 4"/>
          <p:cNvSpPr/>
          <p:nvPr/>
        </p:nvSpPr>
        <p:spPr>
          <a:xfrm>
            <a:off x="502920" y="6446520"/>
            <a:ext cx="11183112" cy="11887"/>
          </a:xfrm>
          <a:prstGeom prst="rect">
            <a:avLst/>
          </a:prstGeom>
          <a:solidFill>
            <a:srgbClr val="D6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4572000" cy="182880"/>
          </a:xfrm>
          <a:prstGeom prst="rect">
            <a:avLst/>
          </a:prstGeom>
          <a:noFill/>
        </p:spPr>
        <p:txBody>
          <a:bodyPr wrap="square" lIns="0" rIns="0" tIns="0" bIns="0">
            <a:spAutoFit/>
          </a:bodyPr>
          <a:lstStyle/>
          <a:p>
            <a:pPr>
              <a:spcAft>
                <a:spcPts val="700"/>
              </a:spcAft>
              <a:defRPr sz="900" b="0">
                <a:solidFill>
                  <a:srgbClr val="526879"/>
                </a:solidFill>
                <a:latin typeface="Aptos"/>
              </a:defRPr>
            </a:pPr>
            <a:r>
              <a:t>CS/2020/015  |  UNIVERSITY OF KELANIYA</a:t>
            </a:r>
          </a:p>
        </p:txBody>
      </p:sp>
      <p:sp>
        <p:nvSpPr>
          <p:cNvPr id="7" name="TextBox 6"/>
          <p:cNvSpPr txBox="1"/>
          <p:nvPr/>
        </p:nvSpPr>
        <p:spPr>
          <a:xfrm>
            <a:off x="4754880" y="6565392"/>
            <a:ext cx="6035040" cy="182880"/>
          </a:xfrm>
          <a:prstGeom prst="rect">
            <a:avLst/>
          </a:prstGeom>
          <a:noFill/>
        </p:spPr>
        <p:txBody>
          <a:bodyPr wrap="square" lIns="0" rIns="0" tIns="0" bIns="0">
            <a:spAutoFit/>
          </a:bodyPr>
          <a:lstStyle/>
          <a:p>
            <a:pPr algn="r">
              <a:spcAft>
                <a:spcPts val="700"/>
              </a:spcAft>
              <a:defRPr sz="900" b="0">
                <a:solidFill>
                  <a:srgbClr val="526879"/>
                </a:solidFill>
                <a:latin typeface="Aptos"/>
              </a:defRPr>
            </a:pPr>
            <a:r>
              <a:t>Q&amp;A BACKUP</a:t>
            </a:r>
          </a:p>
        </p:txBody>
      </p:sp>
      <p:sp>
        <p:nvSpPr>
          <p:cNvPr id="8" name="TextBox 7"/>
          <p:cNvSpPr txBox="1"/>
          <p:nvPr/>
        </p:nvSpPr>
        <p:spPr>
          <a:xfrm>
            <a:off x="11155680" y="6510528"/>
            <a:ext cx="502920" cy="274320"/>
          </a:xfrm>
          <a:prstGeom prst="rect">
            <a:avLst/>
          </a:prstGeom>
          <a:noFill/>
        </p:spPr>
        <p:txBody>
          <a:bodyPr wrap="square" lIns="0" rIns="0" tIns="0" bIns="0">
            <a:spAutoFit/>
          </a:bodyPr>
          <a:lstStyle/>
          <a:p>
            <a:pPr algn="r">
              <a:spcAft>
                <a:spcPts val="700"/>
              </a:spcAft>
              <a:defRPr sz="1400" b="1">
                <a:solidFill>
                  <a:srgbClr val="1678AD"/>
                </a:solidFill>
                <a:latin typeface="Aptos"/>
              </a:defRPr>
            </a:pPr>
            <a:r>
              <a:t>27</a:t>
            </a:r>
          </a:p>
        </p:txBody>
      </p:sp>
      <p:sp>
        <p:nvSpPr>
          <p:cNvPr id="9" name="TextBox 8"/>
          <p:cNvSpPr txBox="1"/>
          <p:nvPr/>
        </p:nvSpPr>
        <p:spPr>
          <a:xfrm>
            <a:off x="530352" y="6318504"/>
            <a:ext cx="10972800" cy="118872"/>
          </a:xfrm>
          <a:prstGeom prst="rect">
            <a:avLst/>
          </a:prstGeom>
          <a:noFill/>
        </p:spPr>
        <p:txBody>
          <a:bodyPr wrap="square" lIns="0" rIns="0" tIns="0" bIns="0">
            <a:spAutoFit/>
          </a:bodyPr>
          <a:lstStyle/>
          <a:p>
            <a:pPr>
              <a:spcAft>
                <a:spcPts val="700"/>
              </a:spcAft>
              <a:defRPr sz="780" b="0">
                <a:solidFill>
                  <a:srgbClr val="526879"/>
                </a:solidFill>
                <a:latin typeface="Aptos"/>
              </a:defRPr>
            </a:pPr>
            <a:r>
              <a:t>Source: Project UI screenshot and C1_2018_01_15_xgboost_forecast.png</a:t>
            </a:r>
          </a:p>
        </p:txBody>
      </p:sp>
      <p:pic>
        <p:nvPicPr>
          <p:cNvPr id="10" name="Picture 9" descr="figure_4_16_forecast_interface.png"/>
          <p:cNvPicPr>
            <a:picLocks noChangeAspect="1"/>
          </p:cNvPicPr>
          <p:nvPr/>
        </p:nvPicPr>
        <p:blipFill>
          <a:blip r:embed="rId3"/>
          <a:stretch>
            <a:fillRect/>
          </a:stretch>
        </p:blipFill>
        <p:spPr>
          <a:xfrm>
            <a:off x="548640" y="1889759"/>
            <a:ext cx="5486400" cy="3810000"/>
          </a:xfrm>
          <a:prstGeom prst="rect">
            <a:avLst/>
          </a:prstGeom>
        </p:spPr>
      </p:pic>
      <p:pic>
        <p:nvPicPr>
          <p:cNvPr id="11" name="Picture 10" descr="C1_2018_01_15_xgboost_forecast.png"/>
          <p:cNvPicPr>
            <a:picLocks noChangeAspect="1"/>
          </p:cNvPicPr>
          <p:nvPr/>
        </p:nvPicPr>
        <p:blipFill>
          <a:blip r:embed="rId4"/>
          <a:stretch>
            <a:fillRect/>
          </a:stretch>
        </p:blipFill>
        <p:spPr>
          <a:xfrm>
            <a:off x="6263640" y="2006594"/>
            <a:ext cx="5367528" cy="3576331"/>
          </a:xfrm>
          <a:prstGeom prst="rect">
            <a:avLst/>
          </a:prstGeom>
        </p:spPr>
      </p:pic>
      <p:sp>
        <p:nvSpPr>
          <p:cNvPr id="12" name="Rounded Rectangle 11"/>
          <p:cNvSpPr/>
          <p:nvPr/>
        </p:nvSpPr>
        <p:spPr>
          <a:xfrm>
            <a:off x="502920" y="5779008"/>
            <a:ext cx="11183112" cy="502920"/>
          </a:xfrm>
          <a:prstGeom prst="roundRect">
            <a:avLst>
              <a:gd name="adj" fmla="val 12000"/>
            </a:avLst>
          </a:prstGeom>
          <a:solidFill>
            <a:srgbClr val="EA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870448"/>
            <a:ext cx="10789920" cy="320040"/>
          </a:xfrm>
          <a:prstGeom prst="rect">
            <a:avLst/>
          </a:prstGeom>
          <a:noFill/>
        </p:spPr>
        <p:txBody>
          <a:bodyPr wrap="square" lIns="0" rIns="0" tIns="0" bIns="0">
            <a:spAutoFit/>
          </a:bodyPr>
          <a:lstStyle/>
          <a:p>
            <a:pPr>
              <a:spcAft>
                <a:spcPts val="700"/>
              </a:spcAft>
              <a:defRPr sz="1700" b="1">
                <a:solidFill>
                  <a:srgbClr val="17344A"/>
                </a:solidFill>
                <a:latin typeface="Aptos"/>
              </a:defRPr>
            </a:pPr>
            <a:r>
              <a:t>Saved historical lookup: C1 → 28.33 on 14 Jan 2018; this demonstrates retrieval and presentation.</a:t>
            </a:r>
          </a:p>
        </p:txBody>
      </p:sp>
    </p:spTree>
  </p:cSld>
  <p:clrMapOvr>
    <a:masterClrMapping/>
  </p:clrMapOvr>
  <p:transition advClick="1"/>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Drug Sales Forecasting and Healthcare Insights with Artificial Intelligence</dc:title>
  <dc:subject>CSCI 43018 final-year presentation</dc:subject>
  <dc:creator>Bope Ranasinghage Gihan Lakmal</dc:creator>
  <cp:keywords>CS/2020/015; University of Kelaniya; pharmaceutical sales forecasting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